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9" r:id="rId1"/>
  </p:sldMasterIdLst>
  <p:sldIdLst>
    <p:sldId id="256" r:id="rId2"/>
    <p:sldId id="257" r:id="rId3"/>
    <p:sldId id="258" r:id="rId4"/>
    <p:sldId id="266" r:id="rId5"/>
    <p:sldId id="263" r:id="rId6"/>
    <p:sldId id="264" r:id="rId7"/>
    <p:sldId id="267" r:id="rId8"/>
    <p:sldId id="259" r:id="rId9"/>
    <p:sldId id="268" r:id="rId10"/>
    <p:sldId id="265" r:id="rId11"/>
    <p:sldId id="269" r:id="rId12"/>
    <p:sldId id="270" r:id="rId13"/>
    <p:sldId id="260" r:id="rId14"/>
    <p:sldId id="271" r:id="rId15"/>
    <p:sldId id="276" r:id="rId16"/>
    <p:sldId id="272" r:id="rId17"/>
    <p:sldId id="273" r:id="rId18"/>
    <p:sldId id="274" r:id="rId19"/>
    <p:sldId id="275" r:id="rId20"/>
    <p:sldId id="261" r:id="rId21"/>
    <p:sldId id="277" r:id="rId22"/>
    <p:sldId id="278" r:id="rId23"/>
    <p:sldId id="279" r:id="rId24"/>
    <p:sldId id="282" r:id="rId25"/>
    <p:sldId id="283" r:id="rId26"/>
    <p:sldId id="280" r:id="rId27"/>
    <p:sldId id="281" r:id="rId28"/>
    <p:sldId id="262" r:id="rId29"/>
    <p:sldId id="284" r:id="rId30"/>
    <p:sldId id="285" r:id="rId31"/>
  </p:sldIdLst>
  <p:sldSz cx="12192000" cy="6858000"/>
  <p:notesSz cx="6858000" cy="9144000"/>
  <p:defaultTextStyle>
    <a:defPPr>
      <a:defRPr lang="sk-S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2"/>
    <p:restoredTop sz="94624"/>
  </p:normalViewPr>
  <p:slideViewPr>
    <p:cSldViewPr snapToGrid="0">
      <p:cViewPr>
        <p:scale>
          <a:sx n="100" d="100"/>
          <a:sy n="100" d="100"/>
        </p:scale>
        <p:origin x="1104" y="6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DD129-A8C2-419E-B641-6CC90F5073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1524000"/>
            <a:ext cx="10668000" cy="22860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B33C04-8A23-4499-A6EF-1D190F0FB3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571999"/>
            <a:ext cx="10668000" cy="152400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FA99FB-5674-4BC5-949F-8D45EC167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4/21/25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63CF93-DD67-4FE2-8083-864693FE8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05E934-32B6-44B1-9622-67F30BDA3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239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AF011-A499-4054-89BF-A4800A68F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FB6E8-D956-45B5-9B4A-9D31DF466B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CDB9DB-9E62-4292-915C-1DD413474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4/21/25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D462F1-BC30-4172-8353-363123A1D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92EE8A-96DF-4D7D-B434-778324756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0943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8453A-F2B4-4EDB-B8FA-150267BC1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4000"/>
            <a:ext cx="10668000" cy="303847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C46C51-ADF1-48FC-A4D9-38C369E783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4589463"/>
            <a:ext cx="10668000" cy="150653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C43B56-4DC7-490B-AEFD-55ED1ECFF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4/21/25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4738F8-C4B2-41D8-B627-A6DDB24B2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F43D49-23F8-4C4B-9C30-EDC030EE6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3988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5556D-6916-42E6-8820-8A0D328A5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747A5-C962-477F-89AA-A32385D579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2000" y="2285999"/>
            <a:ext cx="5151119" cy="38100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D08312-30FC-44D8-B2A9-B5CAAD9F06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8879" y="2285999"/>
            <a:ext cx="5151121" cy="38100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ED84EB-AF90-4F19-A376-0FE5E50F9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4/21/25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838ED0-2789-41E4-A36E-83F92CA2E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221A83-6D60-45F0-9173-5F6D2438B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67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FFAE2-03F4-4A94-86C4-9305B237C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2000"/>
            <a:ext cx="10668000" cy="152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BAC5A5-E184-46B6-8AB5-C8E132D362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2285999"/>
            <a:ext cx="5151119" cy="76199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DCFE87-5D80-45CB-9D13-DFC9AFCEC7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2000" y="3048000"/>
            <a:ext cx="5151119" cy="3048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AC1E5A-8423-4749-8EDA-E13425F696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8878" y="2286000"/>
            <a:ext cx="5151122" cy="76199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832AAA-4BB8-4A3D-9C79-516F82F800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8878" y="3048000"/>
            <a:ext cx="5151122" cy="3048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0BEC63-51D3-4C70-B804-BE9EF765A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4/21/25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5CA295-8563-402F-92C3-1F20C977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FA5918-109D-4342-84C0-9774A52C9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382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F2662-CBD1-4498-9B6E-2961F5EF1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F739AE-8101-4C18-8CF3-911BDF397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4/21/25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EB1C88-D181-449C-9BE1-E85068C18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38A2C9-E93B-4F0A-A021-9E3AEBC3F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4083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0AE8D9-9B42-438E-ADA6-CCFE45788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4/21/25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F792B9-A8AF-4E13-8A25-741E89691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3A2CF6-DBC5-4491-B213-B3CD09D31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3003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27076-58C8-494C-B6B1-DC86F62DD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1998"/>
            <a:ext cx="3810000" cy="1524002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9E36-0340-452F-8D0A-1BC3F3A388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0" y="762001"/>
            <a:ext cx="6096000" cy="5334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051C2E-E587-45E8-BDB1-DFF2F2791B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2000" y="2286000"/>
            <a:ext cx="3810000" cy="381000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21D993-DEDD-470E-B48B-CB053A55A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4/21/25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926C64-7401-4CA4-859F-74472AF86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108F41-F1F6-431C-9B45-8A447F188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225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104FB-422C-4023-9381-EB12F1582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762000"/>
            <a:ext cx="3809999" cy="15240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DBA3AA-DE44-4B1F-91D1-09F67B89B9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34000" y="762001"/>
            <a:ext cx="6021388" cy="5334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27B131-5117-4106-80DB-2AB208C4C9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2001" y="2286000"/>
            <a:ext cx="3809999" cy="38100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13918A-7F23-4C72-8E80-591324A30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4/21/25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1071C8-76FE-4B83-8317-BD53C7C84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23681A-6F29-48FC-9409-319ED3E96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070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A5B09-FC60-445F-8A12-79869BEC6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A219F7-87F2-409F-BB0B-8FE9270C98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AC2BB8-59E0-4EB2-B3BE-59D8641EE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4/21/25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56984E-C0DE-461B-8011-8FC31B0EE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FE7C03-68D3-445E-A5A2-8A935CFC9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665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21F0D7-112D-48B1-B32B-170B1AA2B5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43998" y="761999"/>
            <a:ext cx="2286000" cy="53340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27A7C1-8E5B-41DA-9802-F242D382B6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2001" y="761999"/>
            <a:ext cx="7619999" cy="5334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961CC7-F5B1-464A-8127-60645FB21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4/21/25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B94302-B381-4F37-A9FF-5CC551917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707151-541F-4104-B989-83A9DCA6E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350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A6EF5A53-0A64-4CA5-B9C7-1CB97CB5CF1C}"/>
              </a:ext>
            </a:extLst>
          </p:cNvPr>
          <p:cNvSpPr/>
          <p:nvPr/>
        </p:nvSpPr>
        <p:spPr>
          <a:xfrm>
            <a:off x="8157843" y="6244836"/>
            <a:ext cx="4034156" cy="613164"/>
          </a:xfrm>
          <a:custGeom>
            <a:avLst/>
            <a:gdLst>
              <a:gd name="connsiteX0" fmla="*/ 1479137 w 4034156"/>
              <a:gd name="connsiteY0" fmla="*/ 230 h 613164"/>
              <a:gd name="connsiteX1" fmla="*/ 3482844 w 4034156"/>
              <a:gd name="connsiteY1" fmla="*/ 298555 h 613164"/>
              <a:gd name="connsiteX2" fmla="*/ 3831590 w 4034156"/>
              <a:gd name="connsiteY2" fmla="*/ 425010 h 613164"/>
              <a:gd name="connsiteX3" fmla="*/ 4034156 w 4034156"/>
              <a:gd name="connsiteY3" fmla="*/ 494088 h 613164"/>
              <a:gd name="connsiteX4" fmla="*/ 4034156 w 4034156"/>
              <a:gd name="connsiteY4" fmla="*/ 613164 h 613164"/>
              <a:gd name="connsiteX5" fmla="*/ 0 w 4034156"/>
              <a:gd name="connsiteY5" fmla="*/ 613164 h 613164"/>
              <a:gd name="connsiteX6" fmla="*/ 54792 w 4034156"/>
              <a:gd name="connsiteY6" fmla="*/ 512415 h 613164"/>
              <a:gd name="connsiteX7" fmla="*/ 168327 w 4034156"/>
              <a:gd name="connsiteY7" fmla="*/ 366637 h 613164"/>
              <a:gd name="connsiteX8" fmla="*/ 1192562 w 4034156"/>
              <a:gd name="connsiteY8" fmla="*/ 1522 h 613164"/>
              <a:gd name="connsiteX9" fmla="*/ 1479137 w 4034156"/>
              <a:gd name="connsiteY9" fmla="*/ 230 h 613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34156" h="613164">
                <a:moveTo>
                  <a:pt x="1479137" y="230"/>
                </a:moveTo>
                <a:cubicBezTo>
                  <a:pt x="2152575" y="4287"/>
                  <a:pt x="2854487" y="63583"/>
                  <a:pt x="3482844" y="298555"/>
                </a:cubicBezTo>
                <a:cubicBezTo>
                  <a:pt x="3599338" y="342114"/>
                  <a:pt x="3715540" y="384216"/>
                  <a:pt x="3831590" y="425010"/>
                </a:cubicBezTo>
                <a:lnTo>
                  <a:pt x="4034156" y="494088"/>
                </a:lnTo>
                <a:lnTo>
                  <a:pt x="4034156" y="613164"/>
                </a:lnTo>
                <a:lnTo>
                  <a:pt x="0" y="613164"/>
                </a:lnTo>
                <a:lnTo>
                  <a:pt x="54792" y="512415"/>
                </a:lnTo>
                <a:cubicBezTo>
                  <a:pt x="88888" y="459433"/>
                  <a:pt x="126502" y="410480"/>
                  <a:pt x="168327" y="366637"/>
                </a:cubicBezTo>
                <a:cubicBezTo>
                  <a:pt x="428292" y="94062"/>
                  <a:pt x="821899" y="6565"/>
                  <a:pt x="1192562" y="1522"/>
                </a:cubicBezTo>
                <a:cubicBezTo>
                  <a:pt x="1287308" y="198"/>
                  <a:pt x="1382932" y="-349"/>
                  <a:pt x="1479137" y="23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4ABFBEA-4EB0-4D02-A2C0-1733CD3D6F12}"/>
              </a:ext>
            </a:extLst>
          </p:cNvPr>
          <p:cNvSpPr/>
          <p:nvPr/>
        </p:nvSpPr>
        <p:spPr>
          <a:xfrm>
            <a:off x="1" y="688126"/>
            <a:ext cx="448491" cy="1634252"/>
          </a:xfrm>
          <a:custGeom>
            <a:avLst/>
            <a:gdLst>
              <a:gd name="connsiteX0" fmla="*/ 0 w 448491"/>
              <a:gd name="connsiteY0" fmla="*/ 0 h 1634252"/>
              <a:gd name="connsiteX1" fmla="*/ 12983 w 448491"/>
              <a:gd name="connsiteY1" fmla="*/ 10508 h 1634252"/>
              <a:gd name="connsiteX2" fmla="*/ 441611 w 448491"/>
              <a:gd name="connsiteY2" fmla="*/ 863751 h 1634252"/>
              <a:gd name="connsiteX3" fmla="*/ 251011 w 448491"/>
              <a:gd name="connsiteY3" fmla="*/ 1302895 h 1634252"/>
              <a:gd name="connsiteX4" fmla="*/ 74605 w 448491"/>
              <a:gd name="connsiteY4" fmla="*/ 1543249 h 1634252"/>
              <a:gd name="connsiteX5" fmla="*/ 0 w 448491"/>
              <a:gd name="connsiteY5" fmla="*/ 1634252 h 1634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8491" h="1634252">
                <a:moveTo>
                  <a:pt x="0" y="0"/>
                </a:moveTo>
                <a:lnTo>
                  <a:pt x="12983" y="10508"/>
                </a:lnTo>
                <a:cubicBezTo>
                  <a:pt x="278410" y="241022"/>
                  <a:pt x="489787" y="530267"/>
                  <a:pt x="441611" y="863751"/>
                </a:cubicBezTo>
                <a:cubicBezTo>
                  <a:pt x="418542" y="1022632"/>
                  <a:pt x="337007" y="1166302"/>
                  <a:pt x="251011" y="1302895"/>
                </a:cubicBezTo>
                <a:cubicBezTo>
                  <a:pt x="215138" y="1359902"/>
                  <a:pt x="154723" y="1442480"/>
                  <a:pt x="74605" y="1543249"/>
                </a:cubicBezTo>
                <a:lnTo>
                  <a:pt x="0" y="163425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900">
              <a:solidFill>
                <a:prstClr val="white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9E083F6-57F4-487B-A766-EA0462B1EED8}"/>
              </a:ext>
            </a:extLst>
          </p:cNvPr>
          <p:cNvSpPr/>
          <p:nvPr/>
        </p:nvSpPr>
        <p:spPr>
          <a:xfrm>
            <a:off x="7309459" y="6144069"/>
            <a:ext cx="4418271" cy="718159"/>
          </a:xfrm>
          <a:custGeom>
            <a:avLst/>
            <a:gdLst>
              <a:gd name="connsiteX0" fmla="*/ 1421452 w 4590626"/>
              <a:gd name="connsiteY0" fmla="*/ 0 h 713930"/>
              <a:gd name="connsiteX1" fmla="*/ 3247781 w 4590626"/>
              <a:gd name="connsiteY1" fmla="*/ 271915 h 713930"/>
              <a:gd name="connsiteX2" fmla="*/ 4517331 w 4590626"/>
              <a:gd name="connsiteY2" fmla="*/ 693394 h 713930"/>
              <a:gd name="connsiteX3" fmla="*/ 4590626 w 4590626"/>
              <a:gd name="connsiteY3" fmla="*/ 713930 h 713930"/>
              <a:gd name="connsiteX4" fmla="*/ 0 w 4590626"/>
              <a:gd name="connsiteY4" fmla="*/ 713930 h 713930"/>
              <a:gd name="connsiteX5" fmla="*/ 2854 w 4590626"/>
              <a:gd name="connsiteY5" fmla="*/ 705624 h 713930"/>
              <a:gd name="connsiteX6" fmla="*/ 226680 w 4590626"/>
              <a:gd name="connsiteY6" fmla="*/ 333970 h 713930"/>
              <a:gd name="connsiteX7" fmla="*/ 1160245 w 4590626"/>
              <a:gd name="connsiteY7" fmla="*/ 1178 h 713930"/>
              <a:gd name="connsiteX8" fmla="*/ 1421452 w 4590626"/>
              <a:gd name="connsiteY8" fmla="*/ 0 h 713930"/>
              <a:gd name="connsiteX0" fmla="*/ 1421452 w 4517331"/>
              <a:gd name="connsiteY0" fmla="*/ 0 h 713930"/>
              <a:gd name="connsiteX1" fmla="*/ 3247781 w 4517331"/>
              <a:gd name="connsiteY1" fmla="*/ 271915 h 713930"/>
              <a:gd name="connsiteX2" fmla="*/ 4517331 w 4517331"/>
              <a:gd name="connsiteY2" fmla="*/ 693394 h 713930"/>
              <a:gd name="connsiteX3" fmla="*/ 0 w 4517331"/>
              <a:gd name="connsiteY3" fmla="*/ 713930 h 713930"/>
              <a:gd name="connsiteX4" fmla="*/ 2854 w 4517331"/>
              <a:gd name="connsiteY4" fmla="*/ 705624 h 713930"/>
              <a:gd name="connsiteX5" fmla="*/ 226680 w 4517331"/>
              <a:gd name="connsiteY5" fmla="*/ 333970 h 713930"/>
              <a:gd name="connsiteX6" fmla="*/ 1160245 w 4517331"/>
              <a:gd name="connsiteY6" fmla="*/ 1178 h 713930"/>
              <a:gd name="connsiteX7" fmla="*/ 1421452 w 4517331"/>
              <a:gd name="connsiteY7" fmla="*/ 0 h 713930"/>
              <a:gd name="connsiteX0" fmla="*/ 0 w 4608771"/>
              <a:gd name="connsiteY0" fmla="*/ 713930 h 784834"/>
              <a:gd name="connsiteX1" fmla="*/ 2854 w 4608771"/>
              <a:gd name="connsiteY1" fmla="*/ 705624 h 784834"/>
              <a:gd name="connsiteX2" fmla="*/ 226680 w 4608771"/>
              <a:gd name="connsiteY2" fmla="*/ 333970 h 784834"/>
              <a:gd name="connsiteX3" fmla="*/ 1160245 w 4608771"/>
              <a:gd name="connsiteY3" fmla="*/ 1178 h 784834"/>
              <a:gd name="connsiteX4" fmla="*/ 1421452 w 4608771"/>
              <a:gd name="connsiteY4" fmla="*/ 0 h 784834"/>
              <a:gd name="connsiteX5" fmla="*/ 3247781 w 4608771"/>
              <a:gd name="connsiteY5" fmla="*/ 271915 h 784834"/>
              <a:gd name="connsiteX6" fmla="*/ 4608771 w 4608771"/>
              <a:gd name="connsiteY6" fmla="*/ 784834 h 784834"/>
              <a:gd name="connsiteX0" fmla="*/ 0 w 4418271"/>
              <a:gd name="connsiteY0" fmla="*/ 713930 h 718159"/>
              <a:gd name="connsiteX1" fmla="*/ 2854 w 4418271"/>
              <a:gd name="connsiteY1" fmla="*/ 705624 h 718159"/>
              <a:gd name="connsiteX2" fmla="*/ 226680 w 4418271"/>
              <a:gd name="connsiteY2" fmla="*/ 333970 h 718159"/>
              <a:gd name="connsiteX3" fmla="*/ 1160245 w 4418271"/>
              <a:gd name="connsiteY3" fmla="*/ 1178 h 718159"/>
              <a:gd name="connsiteX4" fmla="*/ 1421452 w 4418271"/>
              <a:gd name="connsiteY4" fmla="*/ 0 h 718159"/>
              <a:gd name="connsiteX5" fmla="*/ 3247781 w 4418271"/>
              <a:gd name="connsiteY5" fmla="*/ 271915 h 718159"/>
              <a:gd name="connsiteX6" fmla="*/ 4418271 w 4418271"/>
              <a:gd name="connsiteY6" fmla="*/ 718159 h 718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18271" h="718159">
                <a:moveTo>
                  <a:pt x="0" y="713930"/>
                </a:moveTo>
                <a:lnTo>
                  <a:pt x="2854" y="705624"/>
                </a:lnTo>
                <a:cubicBezTo>
                  <a:pt x="60059" y="562888"/>
                  <a:pt x="131373" y="433874"/>
                  <a:pt x="226680" y="333970"/>
                </a:cubicBezTo>
                <a:cubicBezTo>
                  <a:pt x="463632" y="85526"/>
                  <a:pt x="822395" y="5774"/>
                  <a:pt x="1160245" y="1178"/>
                </a:cubicBezTo>
                <a:lnTo>
                  <a:pt x="1421452" y="0"/>
                </a:lnTo>
                <a:cubicBezTo>
                  <a:pt x="2035274" y="3698"/>
                  <a:pt x="2748311" y="152222"/>
                  <a:pt x="3247781" y="271915"/>
                </a:cubicBezTo>
                <a:cubicBezTo>
                  <a:pt x="3747251" y="391608"/>
                  <a:pt x="3902480" y="501606"/>
                  <a:pt x="4418271" y="718159"/>
                </a:cubicBezTo>
              </a:path>
            </a:pathLst>
          </a:cu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A2F988-7148-4375-83D8-12EE5EBC7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2000"/>
            <a:ext cx="106680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896238-C5B3-4F3C-97FA-890E1A51A2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2286000"/>
            <a:ext cx="10668000" cy="38180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E4474-0442-4E4B-9E5B-CA7B3951C1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389165" y="194320"/>
            <a:ext cx="20408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  <a:alpha val="70000"/>
                  </a:schemeClr>
                </a:solidFill>
              </a:defRPr>
            </a:lvl1pPr>
          </a:lstStyle>
          <a:p>
            <a:fld id="{76969C88-B244-455D-A017-012B25B1ACDD}" type="datetimeFigureOut">
              <a:rPr lang="en-US" smtClean="0"/>
              <a:pPr/>
              <a:t>4/21/25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626A98-F887-40E1-B9BA-9D93DE90E0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1999" y="6356350"/>
            <a:ext cx="66128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2C8119-73F6-4713-9AD3-3628DCDFB8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06000" y="6356350"/>
            <a:ext cx="1524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  <a:alpha val="70000"/>
                  </a:schemeClr>
                </a:solidFill>
              </a:defRPr>
            </a:lvl1pPr>
          </a:lstStyle>
          <a:p>
            <a:fld id="{07CE569E-9B7C-4CB9-AB80-C0841F922C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4379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8" r:id="rId6"/>
    <p:sldLayoutId id="2147483703" r:id="rId7"/>
    <p:sldLayoutId id="2147483704" r:id="rId8"/>
    <p:sldLayoutId id="2147483705" r:id="rId9"/>
    <p:sldLayoutId id="2147483707" r:id="rId10"/>
    <p:sldLayoutId id="214748370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5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A18C9FB-EC4C-4DAE-8F7D-C6E5AF607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pic>
        <p:nvPicPr>
          <p:cNvPr id="4" name="Picture 3" descr="Abstraktných červený geometrický vzor">
            <a:extLst>
              <a:ext uri="{FF2B5EF4-FFF2-40B4-BE49-F238E27FC236}">
                <a16:creationId xmlns:a16="http://schemas.microsoft.com/office/drawing/2014/main" id="{92700636-3A44-17CB-3725-DAE211CE012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484" b="4247"/>
          <a:stretch/>
        </p:blipFill>
        <p:spPr>
          <a:xfrm>
            <a:off x="20" y="-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B2B1500-BB55-471C-8A9E-67288297EC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29224"/>
            <a:ext cx="6305549" cy="6328777"/>
          </a:xfrm>
          <a:custGeom>
            <a:avLst/>
            <a:gdLst>
              <a:gd name="connsiteX0" fmla="*/ 0 w 4212773"/>
              <a:gd name="connsiteY0" fmla="*/ 0 h 6498740"/>
              <a:gd name="connsiteX1" fmla="*/ 159023 w 4212773"/>
              <a:gd name="connsiteY1" fmla="*/ 12872 h 6498740"/>
              <a:gd name="connsiteX2" fmla="*/ 1697597 w 4212773"/>
              <a:gd name="connsiteY2" fmla="*/ 306418 h 6498740"/>
              <a:gd name="connsiteX3" fmla="*/ 4047822 w 4212773"/>
              <a:gd name="connsiteY3" fmla="*/ 3511272 h 6498740"/>
              <a:gd name="connsiteX4" fmla="*/ 3551503 w 4212773"/>
              <a:gd name="connsiteY4" fmla="*/ 6184235 h 6498740"/>
              <a:gd name="connsiteX5" fmla="*/ 3163159 w 4212773"/>
              <a:gd name="connsiteY5" fmla="*/ 6459073 h 6498740"/>
              <a:gd name="connsiteX6" fmla="*/ 3092077 w 4212773"/>
              <a:gd name="connsiteY6" fmla="*/ 6498740 h 6498740"/>
              <a:gd name="connsiteX7" fmla="*/ 0 w 4212773"/>
              <a:gd name="connsiteY7" fmla="*/ 6498740 h 6498740"/>
              <a:gd name="connsiteX8" fmla="*/ 0 w 4212773"/>
              <a:gd name="connsiteY8" fmla="*/ 0 h 6498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12773" h="6498740">
                <a:moveTo>
                  <a:pt x="0" y="0"/>
                </a:moveTo>
                <a:lnTo>
                  <a:pt x="159023" y="12872"/>
                </a:lnTo>
                <a:cubicBezTo>
                  <a:pt x="659101" y="63644"/>
                  <a:pt x="1176498" y="175345"/>
                  <a:pt x="1697597" y="306418"/>
                </a:cubicBezTo>
                <a:cubicBezTo>
                  <a:pt x="3312474" y="712392"/>
                  <a:pt x="3742395" y="1999786"/>
                  <a:pt x="4047822" y="3511272"/>
                </a:cubicBezTo>
                <a:cubicBezTo>
                  <a:pt x="4252232" y="4523358"/>
                  <a:pt x="4422733" y="5443193"/>
                  <a:pt x="3551503" y="6184235"/>
                </a:cubicBezTo>
                <a:cubicBezTo>
                  <a:pt x="3429343" y="6288166"/>
                  <a:pt x="3299185" y="6378784"/>
                  <a:pt x="3163159" y="6459073"/>
                </a:cubicBezTo>
                <a:lnTo>
                  <a:pt x="3092077" y="6498740"/>
                </a:lnTo>
                <a:lnTo>
                  <a:pt x="0" y="649874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3045E22C-A99D-41BB-AF14-EF1B1E745A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36525"/>
            <a:ext cx="6130391" cy="6721476"/>
          </a:xfrm>
          <a:custGeom>
            <a:avLst/>
            <a:gdLst>
              <a:gd name="connsiteX0" fmla="*/ 0 w 4033589"/>
              <a:gd name="connsiteY0" fmla="*/ 0 h 6858000"/>
              <a:gd name="connsiteX1" fmla="*/ 1878934 w 4033589"/>
              <a:gd name="connsiteY1" fmla="*/ 0 h 6858000"/>
              <a:gd name="connsiteX2" fmla="*/ 1882313 w 4033589"/>
              <a:gd name="connsiteY2" fmla="*/ 2021 h 6858000"/>
              <a:gd name="connsiteX3" fmla="*/ 3475371 w 4033589"/>
              <a:gd name="connsiteY3" fmla="*/ 1517967 h 6858000"/>
              <a:gd name="connsiteX4" fmla="*/ 3975977 w 4033589"/>
              <a:gd name="connsiteY4" fmla="*/ 4379386 h 6858000"/>
              <a:gd name="connsiteX5" fmla="*/ 3312864 w 4033589"/>
              <a:gd name="connsiteY5" fmla="*/ 6852362 h 6858000"/>
              <a:gd name="connsiteX6" fmla="*/ 3310593 w 4033589"/>
              <a:gd name="connsiteY6" fmla="*/ 6858000 h 6858000"/>
              <a:gd name="connsiteX7" fmla="*/ 0 w 4033589"/>
              <a:gd name="connsiteY7" fmla="*/ 6858000 h 6858000"/>
              <a:gd name="connsiteX8" fmla="*/ 0 w 4033589"/>
              <a:gd name="connsiteY8" fmla="*/ 0 h 6858000"/>
              <a:gd name="connsiteX0" fmla="*/ 0 w 4033589"/>
              <a:gd name="connsiteY0" fmla="*/ 6858000 h 6858000"/>
              <a:gd name="connsiteX1" fmla="*/ 1878934 w 4033589"/>
              <a:gd name="connsiteY1" fmla="*/ 0 h 6858000"/>
              <a:gd name="connsiteX2" fmla="*/ 1882313 w 4033589"/>
              <a:gd name="connsiteY2" fmla="*/ 2021 h 6858000"/>
              <a:gd name="connsiteX3" fmla="*/ 3475371 w 4033589"/>
              <a:gd name="connsiteY3" fmla="*/ 1517967 h 6858000"/>
              <a:gd name="connsiteX4" fmla="*/ 3975977 w 4033589"/>
              <a:gd name="connsiteY4" fmla="*/ 4379386 h 6858000"/>
              <a:gd name="connsiteX5" fmla="*/ 3312864 w 4033589"/>
              <a:gd name="connsiteY5" fmla="*/ 6852362 h 6858000"/>
              <a:gd name="connsiteX6" fmla="*/ 3310593 w 4033589"/>
              <a:gd name="connsiteY6" fmla="*/ 6858000 h 6858000"/>
              <a:gd name="connsiteX7" fmla="*/ 0 w 4033589"/>
              <a:gd name="connsiteY7" fmla="*/ 6858000 h 6858000"/>
              <a:gd name="connsiteX0" fmla="*/ 1787494 w 3942149"/>
              <a:gd name="connsiteY0" fmla="*/ 0 h 6949440"/>
              <a:gd name="connsiteX1" fmla="*/ 1790873 w 3942149"/>
              <a:gd name="connsiteY1" fmla="*/ 2021 h 6949440"/>
              <a:gd name="connsiteX2" fmla="*/ 3383931 w 3942149"/>
              <a:gd name="connsiteY2" fmla="*/ 1517967 h 6949440"/>
              <a:gd name="connsiteX3" fmla="*/ 3884537 w 3942149"/>
              <a:gd name="connsiteY3" fmla="*/ 4379386 h 6949440"/>
              <a:gd name="connsiteX4" fmla="*/ 3221424 w 3942149"/>
              <a:gd name="connsiteY4" fmla="*/ 6852362 h 6949440"/>
              <a:gd name="connsiteX5" fmla="*/ 3219153 w 3942149"/>
              <a:gd name="connsiteY5" fmla="*/ 6858000 h 6949440"/>
              <a:gd name="connsiteX6" fmla="*/ 0 w 3942149"/>
              <a:gd name="connsiteY6" fmla="*/ 6949440 h 6949440"/>
              <a:gd name="connsiteX0" fmla="*/ 1787494 w 3942149"/>
              <a:gd name="connsiteY0" fmla="*/ 0 h 6949440"/>
              <a:gd name="connsiteX1" fmla="*/ 1790873 w 3942149"/>
              <a:gd name="connsiteY1" fmla="*/ 2021 h 6949440"/>
              <a:gd name="connsiteX2" fmla="*/ 3383931 w 3942149"/>
              <a:gd name="connsiteY2" fmla="*/ 1517967 h 6949440"/>
              <a:gd name="connsiteX3" fmla="*/ 3884537 w 3942149"/>
              <a:gd name="connsiteY3" fmla="*/ 4379386 h 6949440"/>
              <a:gd name="connsiteX4" fmla="*/ 3221424 w 3942149"/>
              <a:gd name="connsiteY4" fmla="*/ 6852362 h 6949440"/>
              <a:gd name="connsiteX5" fmla="*/ 3219153 w 3942149"/>
              <a:gd name="connsiteY5" fmla="*/ 6858000 h 6949440"/>
              <a:gd name="connsiteX6" fmla="*/ 0 w 3942149"/>
              <a:gd name="connsiteY6" fmla="*/ 6949440 h 6949440"/>
              <a:gd name="connsiteX0" fmla="*/ 0 w 2154655"/>
              <a:gd name="connsiteY0" fmla="*/ 0 h 6858000"/>
              <a:gd name="connsiteX1" fmla="*/ 3379 w 2154655"/>
              <a:gd name="connsiteY1" fmla="*/ 2021 h 6858000"/>
              <a:gd name="connsiteX2" fmla="*/ 1596437 w 2154655"/>
              <a:gd name="connsiteY2" fmla="*/ 1517967 h 6858000"/>
              <a:gd name="connsiteX3" fmla="*/ 2097043 w 2154655"/>
              <a:gd name="connsiteY3" fmla="*/ 4379386 h 6858000"/>
              <a:gd name="connsiteX4" fmla="*/ 1433930 w 2154655"/>
              <a:gd name="connsiteY4" fmla="*/ 6852362 h 6858000"/>
              <a:gd name="connsiteX5" fmla="*/ 1431659 w 2154655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54655" h="6858000">
                <a:moveTo>
                  <a:pt x="0" y="0"/>
                </a:moveTo>
                <a:lnTo>
                  <a:pt x="3379" y="2021"/>
                </a:lnTo>
                <a:cubicBezTo>
                  <a:pt x="667061" y="423753"/>
                  <a:pt x="1239365" y="963389"/>
                  <a:pt x="1596437" y="1517967"/>
                </a:cubicBezTo>
                <a:cubicBezTo>
                  <a:pt x="2133142" y="2350886"/>
                  <a:pt x="2239839" y="3395752"/>
                  <a:pt x="2097043" y="4379386"/>
                </a:cubicBezTo>
                <a:cubicBezTo>
                  <a:pt x="2032295" y="4824358"/>
                  <a:pt x="1812506" y="5869368"/>
                  <a:pt x="1433930" y="6852362"/>
                </a:cubicBezTo>
                <a:lnTo>
                  <a:pt x="1431659" y="6858000"/>
                </a:lnTo>
              </a:path>
            </a:pathLst>
          </a:cu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Avenir Next LT Pro Light"/>
            </a:endParaRP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5F25247C-5FD4-E853-92CE-BE5EF121A1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571999"/>
            <a:ext cx="4572000" cy="1524000"/>
          </a:xfrm>
        </p:spPr>
        <p:txBody>
          <a:bodyPr anchor="b">
            <a:normAutofit/>
          </a:bodyPr>
          <a:lstStyle/>
          <a:p>
            <a:pPr algn="l"/>
            <a:r>
              <a:rPr lang="sk-SK" sz="1600">
                <a:latin typeface="+mj-lt"/>
              </a:rPr>
              <a:t>Lucia Kačmárová, </a:t>
            </a:r>
            <a:r>
              <a:rPr lang="sk-SK" sz="1600">
                <a:effectLst/>
                <a:latin typeface="+mj-lt"/>
                <a:ea typeface="Times New Roman" panose="02020603050405020304" pitchFamily="18" charset="0"/>
              </a:rPr>
              <a:t>Filip Brutovský, Marko Bukovina, Lukáš Bugaj</a:t>
            </a:r>
            <a:r>
              <a:rPr lang="sk-SK" sz="1600">
                <a:effectLst/>
                <a:latin typeface="+mj-lt"/>
              </a:rPr>
              <a:t> </a:t>
            </a:r>
            <a:endParaRPr lang="sk-SK" sz="1600" dirty="0">
              <a:latin typeface="+mj-lt"/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2054C28E-D85B-5D0A-0821-72999A2680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2299787"/>
            <a:ext cx="4572000" cy="2286000"/>
          </a:xfrm>
        </p:spPr>
        <p:txBody>
          <a:bodyPr>
            <a:normAutofit/>
          </a:bodyPr>
          <a:lstStyle/>
          <a:p>
            <a:pPr algn="l"/>
            <a:r>
              <a:rPr lang="sk-SK" sz="4400" dirty="0"/>
              <a:t>PuRRifier</a:t>
            </a:r>
          </a:p>
        </p:txBody>
      </p:sp>
      <p:pic>
        <p:nvPicPr>
          <p:cNvPr id="8" name="Obrázok 7">
            <a:extLst>
              <a:ext uri="{FF2B5EF4-FFF2-40B4-BE49-F238E27FC236}">
                <a16:creationId xmlns:a16="http://schemas.microsoft.com/office/drawing/2014/main" id="{49BCF7A7-B181-36F0-F6EF-9AD3EBE0C5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0" y="1804487"/>
            <a:ext cx="40005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710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8112EA4-8AB4-7FCC-4454-7476191EA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4700" y="2667000"/>
            <a:ext cx="5130800" cy="1524000"/>
          </a:xfrm>
        </p:spPr>
        <p:txBody>
          <a:bodyPr/>
          <a:lstStyle/>
          <a:p>
            <a:r>
              <a:rPr lang="sk-SK" dirty="0"/>
              <a:t>Hlavné podmienky</a:t>
            </a:r>
          </a:p>
        </p:txBody>
      </p:sp>
    </p:spTree>
    <p:extLst>
      <p:ext uri="{BB962C8B-B14F-4D97-AF65-F5344CB8AC3E}">
        <p14:creationId xmlns:p14="http://schemas.microsoft.com/office/powerpoint/2010/main" val="17813429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1545F36-AEA8-B531-7D05-B7C5A559C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1. Zámer projektu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083EDB45-1323-9718-AA5B-C0719A1289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dirty="0"/>
              <a:t>kontext zákazníka, business kontext, </a:t>
            </a:r>
          </a:p>
          <a:p>
            <a:r>
              <a:rPr lang="sk-SK" dirty="0"/>
              <a:t>cieľ riešenia, popis navrhovaného riešenia, </a:t>
            </a:r>
          </a:p>
          <a:p>
            <a:r>
              <a:rPr lang="sk-SK" dirty="0"/>
              <a:t>merateľné ukazovatele</a:t>
            </a:r>
          </a:p>
          <a:p>
            <a:r>
              <a:rPr lang="sk-SK" dirty="0"/>
              <a:t>silné / slabé stránky návrhu projektu</a:t>
            </a:r>
          </a:p>
          <a:p>
            <a:r>
              <a:rPr lang="sk-SK" dirty="0"/>
              <a:t>riziká projektu</a:t>
            </a:r>
          </a:p>
        </p:txBody>
      </p:sp>
    </p:spTree>
    <p:extLst>
      <p:ext uri="{BB962C8B-B14F-4D97-AF65-F5344CB8AC3E}">
        <p14:creationId xmlns:p14="http://schemas.microsoft.com/office/powerpoint/2010/main" val="23047432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ok 3">
            <a:extLst>
              <a:ext uri="{FF2B5EF4-FFF2-40B4-BE49-F238E27FC236}">
                <a16:creationId xmlns:a16="http://schemas.microsoft.com/office/drawing/2014/main" id="{A1DE3BF4-62D5-42E8-7E33-E0CCB9BAE1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5900" y="807072"/>
            <a:ext cx="5659018" cy="1431800"/>
          </a:xfrm>
          <a:prstGeom prst="rect">
            <a:avLst/>
          </a:prstGeom>
        </p:spPr>
      </p:pic>
      <p:sp>
        <p:nvSpPr>
          <p:cNvPr id="5" name="Zástupný objekt pre obsah 2">
            <a:extLst>
              <a:ext uri="{FF2B5EF4-FFF2-40B4-BE49-F238E27FC236}">
                <a16:creationId xmlns:a16="http://schemas.microsoft.com/office/drawing/2014/main" id="{A231F409-AD06-D9ED-A767-16AF5E5F53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809" y="1043188"/>
            <a:ext cx="3962400" cy="704228"/>
          </a:xfrm>
        </p:spPr>
        <p:txBody>
          <a:bodyPr/>
          <a:lstStyle/>
          <a:p>
            <a:r>
              <a:rPr lang="sk-SK" dirty="0"/>
              <a:t>široká verejnosť</a:t>
            </a:r>
          </a:p>
          <a:p>
            <a:pPr marL="0" indent="0">
              <a:buNone/>
            </a:pPr>
            <a:endParaRPr lang="sk-SK" dirty="0"/>
          </a:p>
          <a:p>
            <a:endParaRPr lang="sk-SK" dirty="0"/>
          </a:p>
          <a:p>
            <a:endParaRPr lang="sk-SK" dirty="0"/>
          </a:p>
          <a:p>
            <a:endParaRPr lang="sk-SK" dirty="0"/>
          </a:p>
        </p:txBody>
      </p:sp>
      <p:pic>
        <p:nvPicPr>
          <p:cNvPr id="6" name="Obrázok 5">
            <a:extLst>
              <a:ext uri="{FF2B5EF4-FFF2-40B4-BE49-F238E27FC236}">
                <a16:creationId xmlns:a16="http://schemas.microsoft.com/office/drawing/2014/main" id="{C4F685A5-850F-7E9A-BCD5-6383E3161B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0" y="2552077"/>
            <a:ext cx="5659018" cy="3262735"/>
          </a:xfrm>
          <a:prstGeom prst="rect">
            <a:avLst/>
          </a:prstGeom>
        </p:spPr>
      </p:pic>
      <p:sp>
        <p:nvSpPr>
          <p:cNvPr id="9" name="Zástupný objekt pre obsah 2">
            <a:extLst>
              <a:ext uri="{FF2B5EF4-FFF2-40B4-BE49-F238E27FC236}">
                <a16:creationId xmlns:a16="http://schemas.microsoft.com/office/drawing/2014/main" id="{9F655AD3-794E-FAC5-D266-1D794B6A6797}"/>
              </a:ext>
            </a:extLst>
          </p:cNvPr>
          <p:cNvSpPr txBox="1">
            <a:spLocks/>
          </p:cNvSpPr>
          <p:nvPr/>
        </p:nvSpPr>
        <p:spPr>
          <a:xfrm>
            <a:off x="7492872" y="2911202"/>
            <a:ext cx="4384091" cy="36292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k-SK" dirty="0"/>
              <a:t>mačky</a:t>
            </a:r>
          </a:p>
          <a:p>
            <a:r>
              <a:rPr lang="sk-SK" dirty="0"/>
              <a:t>pradenie</a:t>
            </a:r>
          </a:p>
          <a:p>
            <a:r>
              <a:rPr lang="sk-SK" dirty="0"/>
              <a:t>vedecky podložený fenomén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sk-SK" dirty="0"/>
          </a:p>
          <a:p>
            <a:endParaRPr lang="sk-SK" dirty="0"/>
          </a:p>
          <a:p>
            <a:endParaRPr lang="sk-SK" dirty="0"/>
          </a:p>
          <a:p>
            <a:endParaRPr lang="sk-SK" dirty="0"/>
          </a:p>
        </p:txBody>
      </p:sp>
      <p:sp>
        <p:nvSpPr>
          <p:cNvPr id="10" name="Šípka doprava 9">
            <a:extLst>
              <a:ext uri="{FF2B5EF4-FFF2-40B4-BE49-F238E27FC236}">
                <a16:creationId xmlns:a16="http://schemas.microsoft.com/office/drawing/2014/main" id="{1188F030-6379-C9BA-24E3-63CB2AD0E254}"/>
              </a:ext>
            </a:extLst>
          </p:cNvPr>
          <p:cNvSpPr/>
          <p:nvPr/>
        </p:nvSpPr>
        <p:spPr>
          <a:xfrm>
            <a:off x="2730500" y="1648938"/>
            <a:ext cx="1102309" cy="58993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11" name="Šípka doľava 10">
            <a:extLst>
              <a:ext uri="{FF2B5EF4-FFF2-40B4-BE49-F238E27FC236}">
                <a16:creationId xmlns:a16="http://schemas.microsoft.com/office/drawing/2014/main" id="{8CDD94B2-2C11-FBE9-A88D-2579328CA291}"/>
              </a:ext>
            </a:extLst>
          </p:cNvPr>
          <p:cNvSpPr/>
          <p:nvPr/>
        </p:nvSpPr>
        <p:spPr>
          <a:xfrm>
            <a:off x="6855409" y="5262984"/>
            <a:ext cx="1424991" cy="551828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6769931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rázok 5">
            <a:extLst>
              <a:ext uri="{FF2B5EF4-FFF2-40B4-BE49-F238E27FC236}">
                <a16:creationId xmlns:a16="http://schemas.microsoft.com/office/drawing/2014/main" id="{C7964F60-B236-0D31-0C16-71F45107A3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9600" y="317500"/>
            <a:ext cx="5537200" cy="2755353"/>
          </a:xfrm>
          <a:prstGeom prst="rect">
            <a:avLst/>
          </a:prstGeom>
        </p:spPr>
      </p:pic>
      <p:pic>
        <p:nvPicPr>
          <p:cNvPr id="8" name="Obrázok 7">
            <a:extLst>
              <a:ext uri="{FF2B5EF4-FFF2-40B4-BE49-F238E27FC236}">
                <a16:creationId xmlns:a16="http://schemas.microsoft.com/office/drawing/2014/main" id="{B452F0D6-F25D-66F9-7502-40957955BC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045" y="2364629"/>
            <a:ext cx="5219155" cy="4150471"/>
          </a:xfrm>
          <a:prstGeom prst="rect">
            <a:avLst/>
          </a:prstGeom>
        </p:spPr>
      </p:pic>
      <p:sp>
        <p:nvSpPr>
          <p:cNvPr id="9" name="Zástupný objekt pre obsah 2">
            <a:extLst>
              <a:ext uri="{FF2B5EF4-FFF2-40B4-BE49-F238E27FC236}">
                <a16:creationId xmlns:a16="http://schemas.microsoft.com/office/drawing/2014/main" id="{61DCD271-7395-170E-B008-9CEF5F3B8F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0" y="457820"/>
            <a:ext cx="4191000" cy="2296912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sk-SK" dirty="0"/>
              <a:t>kompatibilita</a:t>
            </a:r>
          </a:p>
          <a:p>
            <a:pPr>
              <a:lnSpc>
                <a:spcPct val="100000"/>
              </a:lnSpc>
            </a:pPr>
            <a:r>
              <a:rPr lang="sk-SK" dirty="0"/>
              <a:t>zníženie stresu</a:t>
            </a:r>
          </a:p>
          <a:p>
            <a:pPr>
              <a:lnSpc>
                <a:spcPct val="100000"/>
              </a:lnSpc>
            </a:pPr>
            <a:r>
              <a:rPr lang="sk-SK" dirty="0"/>
              <a:t>top 5</a:t>
            </a:r>
          </a:p>
          <a:p>
            <a:pPr marL="0" indent="0">
              <a:buNone/>
            </a:pPr>
            <a:endParaRPr lang="sk-SK" dirty="0"/>
          </a:p>
          <a:p>
            <a:endParaRPr lang="sk-SK" dirty="0"/>
          </a:p>
          <a:p>
            <a:endParaRPr lang="sk-SK" dirty="0"/>
          </a:p>
          <a:p>
            <a:endParaRPr lang="sk-SK" dirty="0"/>
          </a:p>
        </p:txBody>
      </p:sp>
      <p:sp>
        <p:nvSpPr>
          <p:cNvPr id="10" name="Zástupný objekt pre obsah 2">
            <a:extLst>
              <a:ext uri="{FF2B5EF4-FFF2-40B4-BE49-F238E27FC236}">
                <a16:creationId xmlns:a16="http://schemas.microsoft.com/office/drawing/2014/main" id="{2314D632-4A4E-747F-2CF2-1809247DCC04}"/>
              </a:ext>
            </a:extLst>
          </p:cNvPr>
          <p:cNvSpPr txBox="1">
            <a:spLocks/>
          </p:cNvSpPr>
          <p:nvPr/>
        </p:nvSpPr>
        <p:spPr>
          <a:xfrm>
            <a:off x="6362700" y="3785148"/>
            <a:ext cx="4191000" cy="22969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sk-SK" dirty="0"/>
              <a:t>monitorovanie stresu</a:t>
            </a:r>
          </a:p>
          <a:p>
            <a:pPr>
              <a:lnSpc>
                <a:spcPct val="100000"/>
              </a:lnSpc>
            </a:pPr>
            <a:r>
              <a:rPr lang="sk-SK" dirty="0"/>
              <a:t>haptická stimulácia</a:t>
            </a:r>
          </a:p>
          <a:p>
            <a:pPr>
              <a:lnSpc>
                <a:spcPct val="100000"/>
              </a:lnSpc>
            </a:pPr>
            <a:r>
              <a:rPr lang="sk-SK" dirty="0"/>
              <a:t>Chilly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sk-SK" dirty="0"/>
          </a:p>
          <a:p>
            <a:endParaRPr lang="sk-SK" dirty="0"/>
          </a:p>
          <a:p>
            <a:endParaRPr lang="sk-SK" dirty="0"/>
          </a:p>
          <a:p>
            <a:endParaRPr lang="sk-SK" dirty="0"/>
          </a:p>
        </p:txBody>
      </p:sp>
      <p:sp>
        <p:nvSpPr>
          <p:cNvPr id="11" name="Šípka doprava 10">
            <a:extLst>
              <a:ext uri="{FF2B5EF4-FFF2-40B4-BE49-F238E27FC236}">
                <a16:creationId xmlns:a16="http://schemas.microsoft.com/office/drawing/2014/main" id="{C605DA16-8C81-8B8C-1CC3-344CC2BD0DB1}"/>
              </a:ext>
            </a:extLst>
          </p:cNvPr>
          <p:cNvSpPr/>
          <p:nvPr/>
        </p:nvSpPr>
        <p:spPr>
          <a:xfrm>
            <a:off x="3959937" y="1400209"/>
            <a:ext cx="1102309" cy="58993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12" name="Šípka doľava 11">
            <a:extLst>
              <a:ext uri="{FF2B5EF4-FFF2-40B4-BE49-F238E27FC236}">
                <a16:creationId xmlns:a16="http://schemas.microsoft.com/office/drawing/2014/main" id="{A61EACF2-1644-7CB3-D343-9C1FF1359525}"/>
              </a:ext>
            </a:extLst>
          </p:cNvPr>
          <p:cNvSpPr/>
          <p:nvPr/>
        </p:nvSpPr>
        <p:spPr>
          <a:xfrm>
            <a:off x="5383504" y="5288384"/>
            <a:ext cx="1424991" cy="551828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4070389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ok 3">
            <a:extLst>
              <a:ext uri="{FF2B5EF4-FFF2-40B4-BE49-F238E27FC236}">
                <a16:creationId xmlns:a16="http://schemas.microsoft.com/office/drawing/2014/main" id="{90A52997-56DB-4411-222A-0077B49EFB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200" y="838563"/>
            <a:ext cx="5308600" cy="5118100"/>
          </a:xfrm>
          <a:prstGeom prst="rect">
            <a:avLst/>
          </a:prstGeom>
        </p:spPr>
      </p:pic>
      <p:sp>
        <p:nvSpPr>
          <p:cNvPr id="7" name="Zástupný objekt pre obsah 2">
            <a:extLst>
              <a:ext uri="{FF2B5EF4-FFF2-40B4-BE49-F238E27FC236}">
                <a16:creationId xmlns:a16="http://schemas.microsoft.com/office/drawing/2014/main" id="{5B66E840-6531-4621-A1AA-D5D6890F62E1}"/>
              </a:ext>
            </a:extLst>
          </p:cNvPr>
          <p:cNvSpPr txBox="1">
            <a:spLocks/>
          </p:cNvSpPr>
          <p:nvPr/>
        </p:nvSpPr>
        <p:spPr>
          <a:xfrm>
            <a:off x="6502400" y="1308648"/>
            <a:ext cx="4191000" cy="22969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sk-SK" dirty="0"/>
              <a:t>prispôsobenie</a:t>
            </a:r>
          </a:p>
          <a:p>
            <a:pPr>
              <a:lnSpc>
                <a:spcPct val="100000"/>
              </a:lnSpc>
            </a:pPr>
            <a:r>
              <a:rPr lang="sk-SK" dirty="0"/>
              <a:t>široká škála nástrojov</a:t>
            </a:r>
          </a:p>
          <a:p>
            <a:pPr>
              <a:lnSpc>
                <a:spcPct val="100000"/>
              </a:lnSpc>
            </a:pPr>
            <a:r>
              <a:rPr lang="sk-SK" dirty="0"/>
              <a:t>jednoduchosť</a:t>
            </a:r>
          </a:p>
          <a:p>
            <a:pPr>
              <a:lnSpc>
                <a:spcPct val="100000"/>
              </a:lnSpc>
            </a:pPr>
            <a:endParaRPr lang="sk-SK" dirty="0"/>
          </a:p>
          <a:p>
            <a:pPr marL="0" indent="0">
              <a:buFont typeface="Arial" panose="020B0604020202020204" pitchFamily="34" charset="0"/>
              <a:buNone/>
            </a:pPr>
            <a:endParaRPr lang="sk-SK" dirty="0"/>
          </a:p>
          <a:p>
            <a:endParaRPr lang="sk-SK" dirty="0"/>
          </a:p>
          <a:p>
            <a:endParaRPr lang="sk-SK" dirty="0"/>
          </a:p>
          <a:p>
            <a:endParaRPr lang="sk-SK" dirty="0"/>
          </a:p>
        </p:txBody>
      </p:sp>
      <p:sp>
        <p:nvSpPr>
          <p:cNvPr id="8" name="Zástupný objekt pre obsah 2">
            <a:extLst>
              <a:ext uri="{FF2B5EF4-FFF2-40B4-BE49-F238E27FC236}">
                <a16:creationId xmlns:a16="http://schemas.microsoft.com/office/drawing/2014/main" id="{AC39FA21-BF41-8A49-7F71-36AAE7CC954E}"/>
              </a:ext>
            </a:extLst>
          </p:cNvPr>
          <p:cNvSpPr txBox="1">
            <a:spLocks/>
          </p:cNvSpPr>
          <p:nvPr/>
        </p:nvSpPr>
        <p:spPr>
          <a:xfrm>
            <a:off x="6502400" y="3823248"/>
            <a:ext cx="4191000" cy="22969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sk-SK" dirty="0"/>
              <a:t>rôzne zariadenia, rôzna kvalita</a:t>
            </a:r>
          </a:p>
          <a:p>
            <a:pPr>
              <a:lnSpc>
                <a:spcPct val="100000"/>
              </a:lnSpc>
            </a:pPr>
            <a:r>
              <a:rPr lang="sk-SK" dirty="0"/>
              <a:t>prostredie, citlivosť</a:t>
            </a:r>
          </a:p>
          <a:p>
            <a:pPr>
              <a:lnSpc>
                <a:spcPct val="100000"/>
              </a:lnSpc>
            </a:pPr>
            <a:endParaRPr lang="sk-SK" dirty="0"/>
          </a:p>
          <a:p>
            <a:pPr marL="0" indent="0">
              <a:buFont typeface="Arial" panose="020B0604020202020204" pitchFamily="34" charset="0"/>
              <a:buNone/>
            </a:pPr>
            <a:endParaRPr lang="sk-SK" dirty="0"/>
          </a:p>
          <a:p>
            <a:endParaRPr lang="sk-SK" dirty="0"/>
          </a:p>
          <a:p>
            <a:endParaRPr lang="sk-SK" dirty="0"/>
          </a:p>
          <a:p>
            <a:endParaRPr lang="sk-SK" dirty="0"/>
          </a:p>
        </p:txBody>
      </p:sp>
      <p:sp>
        <p:nvSpPr>
          <p:cNvPr id="9" name="Šípka doľava 8">
            <a:extLst>
              <a:ext uri="{FF2B5EF4-FFF2-40B4-BE49-F238E27FC236}">
                <a16:creationId xmlns:a16="http://schemas.microsoft.com/office/drawing/2014/main" id="{6FAB2948-211C-C39E-B3F7-49BF9A5EE9BD}"/>
              </a:ext>
            </a:extLst>
          </p:cNvPr>
          <p:cNvSpPr/>
          <p:nvPr/>
        </p:nvSpPr>
        <p:spPr>
          <a:xfrm>
            <a:off x="6235700" y="3053732"/>
            <a:ext cx="1424991" cy="551828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6233918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ok 3">
            <a:extLst>
              <a:ext uri="{FF2B5EF4-FFF2-40B4-BE49-F238E27FC236}">
                <a16:creationId xmlns:a16="http://schemas.microsoft.com/office/drawing/2014/main" id="{83823A7E-9EAE-80AA-4AAC-B333E6CE8E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2" y="2718833"/>
            <a:ext cx="5118100" cy="1420334"/>
          </a:xfrm>
          <a:prstGeom prst="rect">
            <a:avLst/>
          </a:prstGeom>
        </p:spPr>
      </p:pic>
      <p:pic>
        <p:nvPicPr>
          <p:cNvPr id="1026" name="Picture 2" descr="Mike Tyson PNG Images Transparent Background">
            <a:extLst>
              <a:ext uri="{FF2B5EF4-FFF2-40B4-BE49-F238E27FC236}">
                <a16:creationId xmlns:a16="http://schemas.microsoft.com/office/drawing/2014/main" id="{948939AA-9FD4-F75C-0E74-C550688F18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1" y="311170"/>
            <a:ext cx="4241800" cy="6546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Download 15 Smiley Face Png For Free On Mbtskoudsalg - Thumbs Up Smile  Emoji PNG Image with No Background - PNGkey.com">
            <a:extLst>
              <a:ext uri="{FF2B5EF4-FFF2-40B4-BE49-F238E27FC236}">
                <a16:creationId xmlns:a16="http://schemas.microsoft.com/office/drawing/2014/main" id="{29A2EE48-7DAF-60D4-750E-5552CFCC9A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6034" y="458792"/>
            <a:ext cx="2837736" cy="2627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Approving Emoji, Smile Images PNG Transparent Background 1024x1024px -  Filesize: 383432kb - TransparentPNG">
            <a:extLst>
              <a:ext uri="{FF2B5EF4-FFF2-40B4-BE49-F238E27FC236}">
                <a16:creationId xmlns:a16="http://schemas.microsoft.com/office/drawing/2014/main" id="{14907AB1-8689-ECF9-4869-BBF5FB1069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1500" y="3429000"/>
            <a:ext cx="2718833" cy="2718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53175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176DF-9D35-74E7-3B8B-200D92245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354A8B9-985D-019E-F741-0DAF8CBE0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2. Katalóg požiadaviek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9A8F8C27-43BF-2468-304A-6988DA2B98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k-SK" dirty="0"/>
              <a:t>business požiadavky</a:t>
            </a:r>
          </a:p>
          <a:p>
            <a:r>
              <a:rPr lang="sk-SK" dirty="0"/>
              <a:t>user požiadavky</a:t>
            </a:r>
          </a:p>
          <a:p>
            <a:r>
              <a:rPr lang="sk-SK" dirty="0"/>
              <a:t>funkčné požiadavky </a:t>
            </a:r>
          </a:p>
          <a:p>
            <a:r>
              <a:rPr lang="sk-SK" dirty="0"/>
              <a:t>nefunkčné požiadavky</a:t>
            </a:r>
          </a:p>
          <a:p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17085860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2BEDA-182D-20B3-F27A-6FF9BE410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adpis 1">
            <a:extLst>
              <a:ext uri="{FF2B5EF4-FFF2-40B4-BE49-F238E27FC236}">
                <a16:creationId xmlns:a16="http://schemas.microsoft.com/office/drawing/2014/main" id="{58C16DBB-9678-3BC7-B4F9-77CC4006D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55600"/>
            <a:ext cx="10668000" cy="1524000"/>
          </a:xfrm>
        </p:spPr>
        <p:txBody>
          <a:bodyPr/>
          <a:lstStyle/>
          <a:p>
            <a:r>
              <a:rPr lang="sk-SK" dirty="0"/>
              <a:t>Business požiadavky, User požiadavky</a:t>
            </a:r>
          </a:p>
        </p:txBody>
      </p:sp>
      <p:pic>
        <p:nvPicPr>
          <p:cNvPr id="6" name="Obrázok 5">
            <a:extLst>
              <a:ext uri="{FF2B5EF4-FFF2-40B4-BE49-F238E27FC236}">
                <a16:creationId xmlns:a16="http://schemas.microsoft.com/office/drawing/2014/main" id="{7BE7C688-84A7-C30C-71E7-0D5E14420C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1551188"/>
            <a:ext cx="5321300" cy="2070100"/>
          </a:xfrm>
          <a:prstGeom prst="rect">
            <a:avLst/>
          </a:prstGeom>
        </p:spPr>
      </p:pic>
      <p:sp>
        <p:nvSpPr>
          <p:cNvPr id="8" name="Zástupný objekt pre obsah 2">
            <a:extLst>
              <a:ext uri="{FF2B5EF4-FFF2-40B4-BE49-F238E27FC236}">
                <a16:creationId xmlns:a16="http://schemas.microsoft.com/office/drawing/2014/main" id="{07DB3344-42F6-7B6F-FF93-CDEA7EC335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551188"/>
            <a:ext cx="4191000" cy="2296912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sk-SK" dirty="0"/>
              <a:t>kompatibilita</a:t>
            </a:r>
          </a:p>
          <a:p>
            <a:pPr>
              <a:lnSpc>
                <a:spcPct val="100000"/>
              </a:lnSpc>
            </a:pPr>
            <a:r>
              <a:rPr lang="sk-SK" dirty="0"/>
              <a:t>zníženie stresu</a:t>
            </a:r>
          </a:p>
          <a:p>
            <a:pPr>
              <a:lnSpc>
                <a:spcPct val="100000"/>
              </a:lnSpc>
            </a:pPr>
            <a:r>
              <a:rPr lang="sk-SK" dirty="0"/>
              <a:t>top 5</a:t>
            </a:r>
          </a:p>
          <a:p>
            <a:pPr marL="0" indent="0">
              <a:buNone/>
            </a:pPr>
            <a:endParaRPr lang="sk-SK" dirty="0"/>
          </a:p>
          <a:p>
            <a:endParaRPr lang="sk-SK" dirty="0"/>
          </a:p>
          <a:p>
            <a:endParaRPr lang="sk-SK" dirty="0"/>
          </a:p>
          <a:p>
            <a:endParaRPr lang="sk-SK" dirty="0"/>
          </a:p>
        </p:txBody>
      </p:sp>
      <p:sp>
        <p:nvSpPr>
          <p:cNvPr id="9" name="Šípka doprava 8">
            <a:extLst>
              <a:ext uri="{FF2B5EF4-FFF2-40B4-BE49-F238E27FC236}">
                <a16:creationId xmlns:a16="http://schemas.microsoft.com/office/drawing/2014/main" id="{E1675BF0-0904-73C3-1009-B9F82D462AFC}"/>
              </a:ext>
            </a:extLst>
          </p:cNvPr>
          <p:cNvSpPr/>
          <p:nvPr/>
        </p:nvSpPr>
        <p:spPr>
          <a:xfrm>
            <a:off x="3877386" y="2699644"/>
            <a:ext cx="1102309" cy="58993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pic>
        <p:nvPicPr>
          <p:cNvPr id="10" name="Obrázok 9">
            <a:extLst>
              <a:ext uri="{FF2B5EF4-FFF2-40B4-BE49-F238E27FC236}">
                <a16:creationId xmlns:a16="http://schemas.microsoft.com/office/drawing/2014/main" id="{401BA8EF-7AD0-0927-0B55-CE94D54575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3557788"/>
            <a:ext cx="3937000" cy="2696704"/>
          </a:xfrm>
          <a:prstGeom prst="rect">
            <a:avLst/>
          </a:prstGeom>
        </p:spPr>
      </p:pic>
      <p:sp>
        <p:nvSpPr>
          <p:cNvPr id="11" name="Šípka doľava 10">
            <a:extLst>
              <a:ext uri="{FF2B5EF4-FFF2-40B4-BE49-F238E27FC236}">
                <a16:creationId xmlns:a16="http://schemas.microsoft.com/office/drawing/2014/main" id="{13574947-456A-D9AF-7F9B-92387B561CAF}"/>
              </a:ext>
            </a:extLst>
          </p:cNvPr>
          <p:cNvSpPr/>
          <p:nvPr/>
        </p:nvSpPr>
        <p:spPr>
          <a:xfrm>
            <a:off x="4572000" y="4540962"/>
            <a:ext cx="1424991" cy="551828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12" name="Zástupný objekt pre obsah 2">
            <a:extLst>
              <a:ext uri="{FF2B5EF4-FFF2-40B4-BE49-F238E27FC236}">
                <a16:creationId xmlns:a16="http://schemas.microsoft.com/office/drawing/2014/main" id="{565BC614-5B9B-58FF-2414-C56E4F2B3894}"/>
              </a:ext>
            </a:extLst>
          </p:cNvPr>
          <p:cNvSpPr txBox="1">
            <a:spLocks/>
          </p:cNvSpPr>
          <p:nvPr/>
        </p:nvSpPr>
        <p:spPr>
          <a:xfrm>
            <a:off x="6096000" y="4377968"/>
            <a:ext cx="4787900" cy="14296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sk-SK" dirty="0"/>
              <a:t>personalizácia</a:t>
            </a:r>
          </a:p>
          <a:p>
            <a:pPr>
              <a:lnSpc>
                <a:spcPct val="100000"/>
              </a:lnSpc>
            </a:pPr>
            <a:r>
              <a:rPr lang="sk-SK" dirty="0"/>
              <a:t>priateľské a jednoduché UI</a:t>
            </a:r>
          </a:p>
          <a:p>
            <a:endParaRPr lang="sk-SK" dirty="0"/>
          </a:p>
          <a:p>
            <a:endParaRPr lang="sk-SK" dirty="0"/>
          </a:p>
          <a:p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12483579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adpis 1">
            <a:extLst>
              <a:ext uri="{FF2B5EF4-FFF2-40B4-BE49-F238E27FC236}">
                <a16:creationId xmlns:a16="http://schemas.microsoft.com/office/drawing/2014/main" id="{E70A0393-F64C-E626-9125-A6D735FFA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55600"/>
            <a:ext cx="10668000" cy="1524000"/>
          </a:xfrm>
        </p:spPr>
        <p:txBody>
          <a:bodyPr/>
          <a:lstStyle/>
          <a:p>
            <a:r>
              <a:rPr lang="sk-SK" dirty="0"/>
              <a:t>Funkčné, Nefunkčné požiadavky</a:t>
            </a:r>
          </a:p>
        </p:txBody>
      </p:sp>
      <p:sp>
        <p:nvSpPr>
          <p:cNvPr id="8" name="Zástupný objekt pre obsah 2">
            <a:extLst>
              <a:ext uri="{FF2B5EF4-FFF2-40B4-BE49-F238E27FC236}">
                <a16:creationId xmlns:a16="http://schemas.microsoft.com/office/drawing/2014/main" id="{F5EAF9CD-5BB7-5B1A-5F9C-C96786B954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551188"/>
            <a:ext cx="4191000" cy="2296912"/>
          </a:xfrm>
        </p:spPr>
        <p:txBody>
          <a:bodyPr/>
          <a:lstStyle/>
          <a:p>
            <a:pPr>
              <a:lnSpc>
                <a:spcPct val="100000"/>
              </a:lnSpc>
            </a:pPr>
            <a:endParaRPr lang="sk-SK" dirty="0"/>
          </a:p>
          <a:p>
            <a:pPr marL="0" indent="0">
              <a:buNone/>
            </a:pPr>
            <a:r>
              <a:rPr lang="sk-SK" dirty="0"/>
              <a:t>Čo systém robí?</a:t>
            </a:r>
          </a:p>
          <a:p>
            <a:endParaRPr lang="sk-SK" dirty="0"/>
          </a:p>
          <a:p>
            <a:endParaRPr lang="sk-SK" dirty="0"/>
          </a:p>
          <a:p>
            <a:endParaRPr lang="sk-SK" dirty="0"/>
          </a:p>
        </p:txBody>
      </p:sp>
      <p:sp>
        <p:nvSpPr>
          <p:cNvPr id="12" name="Zástupný objekt pre obsah 2">
            <a:extLst>
              <a:ext uri="{FF2B5EF4-FFF2-40B4-BE49-F238E27FC236}">
                <a16:creationId xmlns:a16="http://schemas.microsoft.com/office/drawing/2014/main" id="{E938E833-0096-268B-34EB-63C5C6CAA46F}"/>
              </a:ext>
            </a:extLst>
          </p:cNvPr>
          <p:cNvSpPr txBox="1">
            <a:spLocks/>
          </p:cNvSpPr>
          <p:nvPr/>
        </p:nvSpPr>
        <p:spPr>
          <a:xfrm>
            <a:off x="6819900" y="4403368"/>
            <a:ext cx="4787900" cy="14296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sk-SK" dirty="0"/>
              <a:t>Ako dobre to robí?</a:t>
            </a:r>
          </a:p>
          <a:p>
            <a:endParaRPr lang="sk-SK" dirty="0"/>
          </a:p>
        </p:txBody>
      </p:sp>
      <p:pic>
        <p:nvPicPr>
          <p:cNvPr id="13" name="Obrázok 12">
            <a:extLst>
              <a:ext uri="{FF2B5EF4-FFF2-40B4-BE49-F238E27FC236}">
                <a16:creationId xmlns:a16="http://schemas.microsoft.com/office/drawing/2014/main" id="{91E65F58-886F-7B02-7B61-38DFD9B6F6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8352" y="1526066"/>
            <a:ext cx="5321300" cy="2133600"/>
          </a:xfrm>
          <a:prstGeom prst="rect">
            <a:avLst/>
          </a:prstGeom>
        </p:spPr>
      </p:pic>
      <p:pic>
        <p:nvPicPr>
          <p:cNvPr id="14" name="Obrázok 13">
            <a:extLst>
              <a:ext uri="{FF2B5EF4-FFF2-40B4-BE49-F238E27FC236}">
                <a16:creationId xmlns:a16="http://schemas.microsoft.com/office/drawing/2014/main" id="{7240FBE4-6496-1CAD-1068-84DF6AF825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0" y="3892551"/>
            <a:ext cx="5321300" cy="2171700"/>
          </a:xfrm>
          <a:prstGeom prst="rect">
            <a:avLst/>
          </a:prstGeom>
        </p:spPr>
      </p:pic>
      <p:sp>
        <p:nvSpPr>
          <p:cNvPr id="15" name="Šípka doprava 14">
            <a:extLst>
              <a:ext uri="{FF2B5EF4-FFF2-40B4-BE49-F238E27FC236}">
                <a16:creationId xmlns:a16="http://schemas.microsoft.com/office/drawing/2014/main" id="{7F41912F-9B04-8D05-D3DD-A182AABCC8D5}"/>
              </a:ext>
            </a:extLst>
          </p:cNvPr>
          <p:cNvSpPr/>
          <p:nvPr/>
        </p:nvSpPr>
        <p:spPr>
          <a:xfrm>
            <a:off x="3476043" y="2780221"/>
            <a:ext cx="1102309" cy="58993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16" name="Šípka doľava 15">
            <a:extLst>
              <a:ext uri="{FF2B5EF4-FFF2-40B4-BE49-F238E27FC236}">
                <a16:creationId xmlns:a16="http://schemas.microsoft.com/office/drawing/2014/main" id="{62E65560-4136-D9F7-4826-D7E3E503204A}"/>
              </a:ext>
            </a:extLst>
          </p:cNvPr>
          <p:cNvSpPr/>
          <p:nvPr/>
        </p:nvSpPr>
        <p:spPr>
          <a:xfrm>
            <a:off x="5930900" y="3985612"/>
            <a:ext cx="1424991" cy="551828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6253625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Skupina 6">
            <a:extLst>
              <a:ext uri="{FF2B5EF4-FFF2-40B4-BE49-F238E27FC236}">
                <a16:creationId xmlns:a16="http://schemas.microsoft.com/office/drawing/2014/main" id="{6546830C-678B-FC7C-544F-10B8A0242BBB}"/>
              </a:ext>
            </a:extLst>
          </p:cNvPr>
          <p:cNvGrpSpPr/>
          <p:nvPr/>
        </p:nvGrpSpPr>
        <p:grpSpPr>
          <a:xfrm>
            <a:off x="1069339" y="1466850"/>
            <a:ext cx="4404361" cy="4152899"/>
            <a:chOff x="0" y="0"/>
            <a:chExt cx="3084830" cy="2905760"/>
          </a:xfrm>
        </p:grpSpPr>
        <p:pic>
          <p:nvPicPr>
            <p:cNvPr id="8" name="Obrázok 7" descr="Obrázok, na ktorom je text, snímka obrazovky, rovnobežný, číslo&#10;&#10;Obsah vygenerovaný umelou inteligenciou môže byť nesprávny.">
              <a:extLst>
                <a:ext uri="{FF2B5EF4-FFF2-40B4-BE49-F238E27FC236}">
                  <a16:creationId xmlns:a16="http://schemas.microsoft.com/office/drawing/2014/main" id="{F4BA9F3D-2AAD-F56C-DDCB-422DC681EF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3084830" cy="2593975"/>
            </a:xfrm>
            <a:prstGeom prst="rect">
              <a:avLst/>
            </a:prstGeom>
          </p:spPr>
        </p:pic>
        <p:sp>
          <p:nvSpPr>
            <p:cNvPr id="9" name="Textové pole 1">
              <a:extLst>
                <a:ext uri="{FF2B5EF4-FFF2-40B4-BE49-F238E27FC236}">
                  <a16:creationId xmlns:a16="http://schemas.microsoft.com/office/drawing/2014/main" id="{E99B82C2-CF22-4837-0F7F-8D707194BCDC}"/>
                </a:ext>
              </a:extLst>
            </p:cNvPr>
            <p:cNvSpPr txBox="1"/>
            <p:nvPr/>
          </p:nvSpPr>
          <p:spPr>
            <a:xfrm>
              <a:off x="0" y="2647315"/>
              <a:ext cx="3084830" cy="258445"/>
            </a:xfrm>
            <a:prstGeom prst="rect">
              <a:avLst/>
            </a:prstGeom>
            <a:solidFill>
              <a:prstClr val="white"/>
            </a:solidFill>
            <a:ln>
              <a:noFill/>
            </a:ln>
          </p:spPr>
          <p:txBody>
            <a:bodyPr rot="0" spcFirstLastPara="0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1000"/>
                </a:spcAft>
              </a:pPr>
              <a:r>
                <a:rPr lang="sk-SK" sz="900" i="1"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Arial" panose="020B0604020202020204" pitchFamily="34" charset="0"/>
                </a:rPr>
                <a:t>Matica závislostí (func-user)</a:t>
              </a:r>
              <a:endParaRPr lang="sk-SK" sz="900" i="1">
                <a:solidFill>
                  <a:srgbClr val="1F497D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</p:grpSp>
      <p:grpSp>
        <p:nvGrpSpPr>
          <p:cNvPr id="10" name="Skupina 9">
            <a:extLst>
              <a:ext uri="{FF2B5EF4-FFF2-40B4-BE49-F238E27FC236}">
                <a16:creationId xmlns:a16="http://schemas.microsoft.com/office/drawing/2014/main" id="{31615821-4A8F-7735-B751-8B9271C155B8}"/>
              </a:ext>
            </a:extLst>
          </p:cNvPr>
          <p:cNvGrpSpPr/>
          <p:nvPr/>
        </p:nvGrpSpPr>
        <p:grpSpPr>
          <a:xfrm>
            <a:off x="5867399" y="1466850"/>
            <a:ext cx="4404361" cy="4158562"/>
            <a:chOff x="0" y="0"/>
            <a:chExt cx="3100070" cy="3235325"/>
          </a:xfrm>
        </p:grpSpPr>
        <p:pic>
          <p:nvPicPr>
            <p:cNvPr id="11" name="Obrázok 10" descr="Obrázok, na ktorom je text, snímka obrazovky, rovnobežný, písmo&#10;&#10;Obsah vygenerovaný umelou inteligenciou môže byť nesprávny.">
              <a:extLst>
                <a:ext uri="{FF2B5EF4-FFF2-40B4-BE49-F238E27FC236}">
                  <a16:creationId xmlns:a16="http://schemas.microsoft.com/office/drawing/2014/main" id="{D2831987-5D8B-56D5-EDE5-5838FE291EA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3100070" cy="2926715"/>
            </a:xfrm>
            <a:prstGeom prst="rect">
              <a:avLst/>
            </a:prstGeom>
          </p:spPr>
        </p:pic>
        <p:sp>
          <p:nvSpPr>
            <p:cNvPr id="12" name="Textové pole 1">
              <a:extLst>
                <a:ext uri="{FF2B5EF4-FFF2-40B4-BE49-F238E27FC236}">
                  <a16:creationId xmlns:a16="http://schemas.microsoft.com/office/drawing/2014/main" id="{1DA893C8-B56C-19ED-0D4B-5EDD1FBBE493}"/>
                </a:ext>
              </a:extLst>
            </p:cNvPr>
            <p:cNvSpPr txBox="1"/>
            <p:nvPr/>
          </p:nvSpPr>
          <p:spPr>
            <a:xfrm>
              <a:off x="0" y="2976880"/>
              <a:ext cx="3100070" cy="258445"/>
            </a:xfrm>
            <a:prstGeom prst="rect">
              <a:avLst/>
            </a:prstGeom>
            <a:solidFill>
              <a:prstClr val="white"/>
            </a:solidFill>
            <a:ln>
              <a:noFill/>
            </a:ln>
          </p:spPr>
          <p:txBody>
            <a:bodyPr rot="0" spcFirstLastPara="0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>
                <a:spcAft>
                  <a:spcPts val="1000"/>
                </a:spcAft>
              </a:pPr>
              <a:r>
                <a:rPr lang="sk-SK" sz="900" i="1"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Arial" panose="020B0604020202020204" pitchFamily="34" charset="0"/>
                </a:rPr>
                <a:t>Matica závislostí (User-Bus)</a:t>
              </a:r>
              <a:endParaRPr lang="sk-SK" sz="900" i="1">
                <a:solidFill>
                  <a:srgbClr val="1F497D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</p:grpSp>
      <p:sp>
        <p:nvSpPr>
          <p:cNvPr id="13" name="Nadpis 1">
            <a:extLst>
              <a:ext uri="{FF2B5EF4-FFF2-40B4-BE49-F238E27FC236}">
                <a16:creationId xmlns:a16="http://schemas.microsoft.com/office/drawing/2014/main" id="{60B9AB1A-F0A8-E6B9-680A-46EF00508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0899" y="197919"/>
            <a:ext cx="4953000" cy="1524000"/>
          </a:xfrm>
        </p:spPr>
        <p:txBody>
          <a:bodyPr/>
          <a:lstStyle/>
          <a:p>
            <a:r>
              <a:rPr lang="sk-SK" dirty="0"/>
              <a:t>Matice závislostí</a:t>
            </a:r>
          </a:p>
        </p:txBody>
      </p:sp>
    </p:spTree>
    <p:extLst>
      <p:ext uri="{BB962C8B-B14F-4D97-AF65-F5344CB8AC3E}">
        <p14:creationId xmlns:p14="http://schemas.microsoft.com/office/powerpoint/2010/main" val="9698345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Skupina 3">
            <a:extLst>
              <a:ext uri="{FF2B5EF4-FFF2-40B4-BE49-F238E27FC236}">
                <a16:creationId xmlns:a16="http://schemas.microsoft.com/office/drawing/2014/main" id="{5301CB37-42A6-4264-48B4-9CE00A66009C}"/>
              </a:ext>
            </a:extLst>
          </p:cNvPr>
          <p:cNvGrpSpPr/>
          <p:nvPr/>
        </p:nvGrpSpPr>
        <p:grpSpPr>
          <a:xfrm>
            <a:off x="2393472" y="1365885"/>
            <a:ext cx="6084253" cy="4761230"/>
            <a:chOff x="0" y="0"/>
            <a:chExt cx="5742305" cy="4417060"/>
          </a:xfrm>
        </p:grpSpPr>
        <p:pic>
          <p:nvPicPr>
            <p:cNvPr id="5" name="Obrázok 4">
              <a:extLst>
                <a:ext uri="{FF2B5EF4-FFF2-40B4-BE49-F238E27FC236}">
                  <a16:creationId xmlns:a16="http://schemas.microsoft.com/office/drawing/2014/main" id="{D9B01198-6075-70D6-5DB3-CC8DC84062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5742305" cy="4107180"/>
            </a:xfrm>
            <a:prstGeom prst="rect">
              <a:avLst/>
            </a:prstGeom>
          </p:spPr>
        </p:pic>
        <p:sp>
          <p:nvSpPr>
            <p:cNvPr id="6" name="Textové pole 1">
              <a:extLst>
                <a:ext uri="{FF2B5EF4-FFF2-40B4-BE49-F238E27FC236}">
                  <a16:creationId xmlns:a16="http://schemas.microsoft.com/office/drawing/2014/main" id="{23FA0DD9-5370-CC82-4E52-81C2C8CA4C19}"/>
                </a:ext>
              </a:extLst>
            </p:cNvPr>
            <p:cNvSpPr txBox="1"/>
            <p:nvPr/>
          </p:nvSpPr>
          <p:spPr>
            <a:xfrm>
              <a:off x="0" y="4158615"/>
              <a:ext cx="5742305" cy="258445"/>
            </a:xfrm>
            <a:prstGeom prst="rect">
              <a:avLst/>
            </a:prstGeom>
            <a:solidFill>
              <a:prstClr val="white"/>
            </a:solidFill>
            <a:ln>
              <a:noFill/>
            </a:ln>
          </p:spPr>
          <p:txBody>
            <a:bodyPr rot="0" spcFirstLastPara="0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>
                <a:spcAft>
                  <a:spcPts val="1000"/>
                </a:spcAft>
              </a:pPr>
              <a:r>
                <a:rPr lang="sk-SK" sz="900" i="1"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Arial" panose="020B0604020202020204" pitchFamily="34" charset="0"/>
                </a:rPr>
                <a:t>Diagram závislostí</a:t>
              </a:r>
              <a:endParaRPr lang="sk-SK" sz="900" i="1">
                <a:solidFill>
                  <a:srgbClr val="1F497D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</p:grpSp>
      <p:sp>
        <p:nvSpPr>
          <p:cNvPr id="7" name="Nadpis 1">
            <a:extLst>
              <a:ext uri="{FF2B5EF4-FFF2-40B4-BE49-F238E27FC236}">
                <a16:creationId xmlns:a16="http://schemas.microsoft.com/office/drawing/2014/main" id="{FF2E28C7-91E6-4A8C-3605-1675C3FA2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0699" y="223319"/>
            <a:ext cx="4953000" cy="1524000"/>
          </a:xfrm>
        </p:spPr>
        <p:txBody>
          <a:bodyPr/>
          <a:lstStyle/>
          <a:p>
            <a:r>
              <a:rPr lang="sk-SK" dirty="0"/>
              <a:t>Diagram závislostí</a:t>
            </a:r>
          </a:p>
        </p:txBody>
      </p:sp>
    </p:spTree>
    <p:extLst>
      <p:ext uri="{BB962C8B-B14F-4D97-AF65-F5344CB8AC3E}">
        <p14:creationId xmlns:p14="http://schemas.microsoft.com/office/powerpoint/2010/main" val="3906353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3D6DF-3932-736A-50A8-AF5DDAA87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6821F3C-7122-2A5D-5E2E-AD6145C4C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3. Business model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22366C14-E35B-CAB3-81BF-9CFF2C9A4C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k-SK" dirty="0"/>
              <a:t>konceptuálny model (prehľadový </a:t>
            </a:r>
            <a:r>
              <a:rPr lang="sk-SK" b="1" dirty="0"/>
              <a:t>doménový model</a:t>
            </a:r>
            <a:r>
              <a:rPr lang="sk-SK" dirty="0"/>
              <a:t>)</a:t>
            </a:r>
          </a:p>
          <a:p>
            <a:r>
              <a:rPr lang="sk-SK" b="1" dirty="0"/>
              <a:t>procesný model </a:t>
            </a:r>
            <a:r>
              <a:rPr lang="sk-SK" dirty="0"/>
              <a:t>(procesná mapa, procesy podporované navrhovaným riešením (min. 2 diagramy procesov))</a:t>
            </a:r>
          </a:p>
        </p:txBody>
      </p:sp>
    </p:spTree>
    <p:extLst>
      <p:ext uri="{BB962C8B-B14F-4D97-AF65-F5344CB8AC3E}">
        <p14:creationId xmlns:p14="http://schemas.microsoft.com/office/powerpoint/2010/main" val="29150275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C17FBD3-61C6-70BE-8204-B46A66E43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7400" y="292100"/>
            <a:ext cx="5537200" cy="1524000"/>
          </a:xfrm>
        </p:spPr>
        <p:txBody>
          <a:bodyPr/>
          <a:lstStyle/>
          <a:p>
            <a:r>
              <a:rPr lang="sk-SK" dirty="0"/>
              <a:t>Doménový model</a:t>
            </a:r>
          </a:p>
        </p:txBody>
      </p:sp>
      <p:pic>
        <p:nvPicPr>
          <p:cNvPr id="4" name="Obrázok 3" descr="Obrázok, na ktorom je diagram, plán, rad, text&#10;&#10;Obsah vygenerovaný umelou inteligenciou môže byť nesprávny.">
            <a:extLst>
              <a:ext uri="{FF2B5EF4-FFF2-40B4-BE49-F238E27FC236}">
                <a16:creationId xmlns:a16="http://schemas.microsoft.com/office/drawing/2014/main" id="{2F6D4221-DD5A-0D1E-B2D8-A14F90B8AA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0392" y="1349285"/>
            <a:ext cx="7984808" cy="4653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2742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79933-695F-1341-F9CC-7F5C15D4C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CD1F244-5064-1A4D-32A2-244EAF6F3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8437" y="412897"/>
            <a:ext cx="3992563" cy="1524000"/>
          </a:xfrm>
        </p:spPr>
        <p:txBody>
          <a:bodyPr/>
          <a:lstStyle/>
          <a:p>
            <a:r>
              <a:rPr lang="sk-SK" dirty="0"/>
              <a:t>Procesná mapa</a:t>
            </a:r>
          </a:p>
        </p:txBody>
      </p:sp>
      <p:pic>
        <p:nvPicPr>
          <p:cNvPr id="4" name="Obrázok 3" descr="Obrázok, na ktorom je text, snímka obrazovky, písmo&#10;&#10;Obsah vygenerovaný umelou inteligenciou môže byť nesprávny.">
            <a:extLst>
              <a:ext uri="{FF2B5EF4-FFF2-40B4-BE49-F238E27FC236}">
                <a16:creationId xmlns:a16="http://schemas.microsoft.com/office/drawing/2014/main" id="{C4ADAFCC-D6BA-8B70-22FD-135750F0CAC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063" y="2342515"/>
            <a:ext cx="10497873" cy="1327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10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14043-F716-318C-E49A-D707CAB4C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F9E15C3-583E-A01D-CA16-EA2034E85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4637" y="412897"/>
            <a:ext cx="7073900" cy="1524000"/>
          </a:xfrm>
        </p:spPr>
        <p:txBody>
          <a:bodyPr/>
          <a:lstStyle/>
          <a:p>
            <a:r>
              <a:rPr lang="sk-SK" dirty="0"/>
              <a:t>Procesný model – PC_0</a:t>
            </a:r>
          </a:p>
        </p:txBody>
      </p:sp>
      <p:grpSp>
        <p:nvGrpSpPr>
          <p:cNvPr id="3" name="Skupina 2">
            <a:extLst>
              <a:ext uri="{FF2B5EF4-FFF2-40B4-BE49-F238E27FC236}">
                <a16:creationId xmlns:a16="http://schemas.microsoft.com/office/drawing/2014/main" id="{EB585D6F-802B-18D6-E0D5-D2E07BD65DA8}"/>
              </a:ext>
            </a:extLst>
          </p:cNvPr>
          <p:cNvGrpSpPr/>
          <p:nvPr/>
        </p:nvGrpSpPr>
        <p:grpSpPr>
          <a:xfrm>
            <a:off x="2570162" y="1562100"/>
            <a:ext cx="6383338" cy="4447687"/>
            <a:chOff x="0" y="0"/>
            <a:chExt cx="5447030" cy="3590925"/>
          </a:xfrm>
        </p:grpSpPr>
        <p:pic>
          <p:nvPicPr>
            <p:cNvPr id="5" name="Obrázok 4" descr="Obrázok, na ktorom je text, snímka obrazovky, diagram, rad&#10;&#10;Obsah vygenerovaný umelou inteligenciou môže byť nesprávny.&#10;&#10;&#10;&#10;&#10;&#10;&#10;&#10;&#10;&#10;&#10;&#10;&#10;&#10;&#10;&#10;&#10;&#10;">
              <a:extLst>
                <a:ext uri="{FF2B5EF4-FFF2-40B4-BE49-F238E27FC236}">
                  <a16:creationId xmlns:a16="http://schemas.microsoft.com/office/drawing/2014/main" id="{24809A97-EE10-1F35-1AAF-7B3F52B3A9E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5447030" cy="3261360"/>
            </a:xfrm>
            <a:prstGeom prst="rect">
              <a:avLst/>
            </a:prstGeom>
          </p:spPr>
        </p:pic>
        <p:sp>
          <p:nvSpPr>
            <p:cNvPr id="6" name="Textové pole 1">
              <a:extLst>
                <a:ext uri="{FF2B5EF4-FFF2-40B4-BE49-F238E27FC236}">
                  <a16:creationId xmlns:a16="http://schemas.microsoft.com/office/drawing/2014/main" id="{69A99E14-144A-4F65-CC6C-1AC3C837B211}"/>
                </a:ext>
              </a:extLst>
            </p:cNvPr>
            <p:cNvSpPr txBox="1"/>
            <p:nvPr/>
          </p:nvSpPr>
          <p:spPr>
            <a:xfrm>
              <a:off x="0" y="3314700"/>
              <a:ext cx="5447030" cy="276225"/>
            </a:xfrm>
            <a:prstGeom prst="rect">
              <a:avLst/>
            </a:prstGeom>
            <a:solidFill>
              <a:prstClr val="white"/>
            </a:solidFill>
            <a:ln>
              <a:noFill/>
            </a:ln>
          </p:spPr>
          <p:txBody>
            <a:bodyPr rot="0" spcFirstLastPara="0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1000"/>
                </a:spcAft>
              </a:pPr>
              <a:r>
                <a:rPr lang="sk-SK" sz="900" i="1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19050" dir="2700000" algn="tl">
                      <a:schemeClr val="dk1">
                        <a:alpha val="40000"/>
                      </a:schemeClr>
                    </a:outerShdw>
                  </a:effectLst>
                  <a:latin typeface="Arial" panose="020B0604020202020204" pitchFamily="34" charset="0"/>
                  <a:ea typeface="Arial" panose="020B0604020202020204" pitchFamily="34" charset="0"/>
                </a:rPr>
                <a:t>PC_0 Tutorial</a:t>
              </a:r>
              <a:endParaRPr lang="sk-SK" sz="900" i="1">
                <a:solidFill>
                  <a:srgbClr val="1F497D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949884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5BB2D-7497-685B-ABDD-9D90B7253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990FFFD-7D3B-EA66-5C21-FE31322B5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4637" y="412897"/>
            <a:ext cx="7073900" cy="1524000"/>
          </a:xfrm>
        </p:spPr>
        <p:txBody>
          <a:bodyPr/>
          <a:lstStyle/>
          <a:p>
            <a:r>
              <a:rPr lang="sk-SK" dirty="0"/>
              <a:t>Procesný model – PC_1</a:t>
            </a:r>
          </a:p>
        </p:txBody>
      </p:sp>
      <p:grpSp>
        <p:nvGrpSpPr>
          <p:cNvPr id="4" name="Skupina 3">
            <a:extLst>
              <a:ext uri="{FF2B5EF4-FFF2-40B4-BE49-F238E27FC236}">
                <a16:creationId xmlns:a16="http://schemas.microsoft.com/office/drawing/2014/main" id="{DB52AA1E-BDD5-2D18-762A-DBD97BD7D170}"/>
              </a:ext>
            </a:extLst>
          </p:cNvPr>
          <p:cNvGrpSpPr/>
          <p:nvPr/>
        </p:nvGrpSpPr>
        <p:grpSpPr>
          <a:xfrm>
            <a:off x="2303463" y="1574800"/>
            <a:ext cx="6726238" cy="4337050"/>
            <a:chOff x="0" y="0"/>
            <a:chExt cx="5553075" cy="3333750"/>
          </a:xfrm>
        </p:grpSpPr>
        <p:pic>
          <p:nvPicPr>
            <p:cNvPr id="7" name="Obrázok 6" descr="Obrázok, na ktorom je text, diagram, snímka obrazovky, plán&#10;&#10;Obsah vygenerovaný umelou inteligenciou môže byť nesprávny.">
              <a:extLst>
                <a:ext uri="{FF2B5EF4-FFF2-40B4-BE49-F238E27FC236}">
                  <a16:creationId xmlns:a16="http://schemas.microsoft.com/office/drawing/2014/main" id="{726FA8E4-C533-DD0D-476E-C1C0FB84AC1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5553075" cy="2996565"/>
            </a:xfrm>
            <a:prstGeom prst="rect">
              <a:avLst/>
            </a:prstGeom>
          </p:spPr>
        </p:pic>
        <p:sp>
          <p:nvSpPr>
            <p:cNvPr id="8" name="Textové pole 1">
              <a:extLst>
                <a:ext uri="{FF2B5EF4-FFF2-40B4-BE49-F238E27FC236}">
                  <a16:creationId xmlns:a16="http://schemas.microsoft.com/office/drawing/2014/main" id="{B68B6F4F-4F09-8FF7-7923-576919F223CE}"/>
                </a:ext>
              </a:extLst>
            </p:cNvPr>
            <p:cNvSpPr txBox="1"/>
            <p:nvPr/>
          </p:nvSpPr>
          <p:spPr>
            <a:xfrm>
              <a:off x="0" y="3057525"/>
              <a:ext cx="5553075" cy="276225"/>
            </a:xfrm>
            <a:prstGeom prst="rect">
              <a:avLst/>
            </a:prstGeom>
            <a:solidFill>
              <a:prstClr val="white"/>
            </a:solidFill>
            <a:ln>
              <a:noFill/>
            </a:ln>
          </p:spPr>
          <p:txBody>
            <a:bodyPr rot="0" spcFirstLastPara="0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1000"/>
                </a:spcAft>
              </a:pPr>
              <a:r>
                <a:rPr lang="sk-SK" sz="900" i="1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19050" dir="2700000" algn="tl">
                      <a:schemeClr val="dk1">
                        <a:alpha val="40000"/>
                      </a:schemeClr>
                    </a:outerShdw>
                  </a:effectLst>
                  <a:latin typeface="Arial" panose="020B0604020202020204" pitchFamily="34" charset="0"/>
                  <a:ea typeface="Arial" panose="020B0604020202020204" pitchFamily="34" charset="0"/>
                </a:rPr>
                <a:t>PC_1 Monitoring Stress</a:t>
              </a:r>
              <a:endParaRPr lang="sk-SK" sz="900" i="1">
                <a:solidFill>
                  <a:srgbClr val="1F497D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287887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47047-6077-AEAA-ACC0-65148FB04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673F71F-4E56-71D1-25CE-E659BEC6E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2237" y="463697"/>
            <a:ext cx="7073900" cy="1524000"/>
          </a:xfrm>
        </p:spPr>
        <p:txBody>
          <a:bodyPr/>
          <a:lstStyle/>
          <a:p>
            <a:r>
              <a:rPr lang="sk-SK" dirty="0"/>
              <a:t>Procesný model – PC_2</a:t>
            </a:r>
          </a:p>
        </p:txBody>
      </p:sp>
      <p:grpSp>
        <p:nvGrpSpPr>
          <p:cNvPr id="3" name="Skupina 2">
            <a:extLst>
              <a:ext uri="{FF2B5EF4-FFF2-40B4-BE49-F238E27FC236}">
                <a16:creationId xmlns:a16="http://schemas.microsoft.com/office/drawing/2014/main" id="{99A34B67-785B-D885-FCAC-537143974753}"/>
              </a:ext>
            </a:extLst>
          </p:cNvPr>
          <p:cNvGrpSpPr/>
          <p:nvPr/>
        </p:nvGrpSpPr>
        <p:grpSpPr>
          <a:xfrm>
            <a:off x="2455863" y="1629410"/>
            <a:ext cx="6688137" cy="4326890"/>
            <a:chOff x="0" y="0"/>
            <a:chExt cx="5324475" cy="3472180"/>
          </a:xfrm>
        </p:grpSpPr>
        <p:pic>
          <p:nvPicPr>
            <p:cNvPr id="5" name="Obrázok 4" descr="Obrázok, na ktorom je text, snímka obrazovky, diagram, rad&#10;&#10;Obsah vygenerovaný umelou inteligenciou môže byť nesprávny.">
              <a:extLst>
                <a:ext uri="{FF2B5EF4-FFF2-40B4-BE49-F238E27FC236}">
                  <a16:creationId xmlns:a16="http://schemas.microsoft.com/office/drawing/2014/main" id="{A44D9CE1-B620-A19F-A694-0F66BE7BFB5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5324475" cy="3134360"/>
            </a:xfrm>
            <a:prstGeom prst="rect">
              <a:avLst/>
            </a:prstGeom>
          </p:spPr>
        </p:pic>
        <p:sp>
          <p:nvSpPr>
            <p:cNvPr id="6" name="Textové pole 1">
              <a:extLst>
                <a:ext uri="{FF2B5EF4-FFF2-40B4-BE49-F238E27FC236}">
                  <a16:creationId xmlns:a16="http://schemas.microsoft.com/office/drawing/2014/main" id="{59939598-AC07-6E37-CFEE-BA4B9C7BB982}"/>
                </a:ext>
              </a:extLst>
            </p:cNvPr>
            <p:cNvSpPr txBox="1"/>
            <p:nvPr/>
          </p:nvSpPr>
          <p:spPr>
            <a:xfrm>
              <a:off x="0" y="3195955"/>
              <a:ext cx="5324475" cy="276225"/>
            </a:xfrm>
            <a:prstGeom prst="rect">
              <a:avLst/>
            </a:prstGeom>
            <a:solidFill>
              <a:prstClr val="white"/>
            </a:solidFill>
            <a:ln>
              <a:noFill/>
            </a:ln>
          </p:spPr>
          <p:txBody>
            <a:bodyPr rot="0" spcFirstLastPara="0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>
                <a:spcAft>
                  <a:spcPts val="1000"/>
                </a:spcAft>
              </a:pPr>
              <a:r>
                <a:rPr lang="sk-SK" sz="900" i="1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19050" dir="2700000" algn="tl">
                      <a:schemeClr val="dk1">
                        <a:alpha val="40000"/>
                      </a:schemeClr>
                    </a:outerShdw>
                  </a:effectLst>
                  <a:latin typeface="Arial" panose="020B0604020202020204" pitchFamily="34" charset="0"/>
                  <a:ea typeface="Arial" panose="020B0604020202020204" pitchFamily="34" charset="0"/>
                </a:rPr>
                <a:t>PC_2 Alert State</a:t>
              </a:r>
              <a:endParaRPr lang="sk-SK" sz="900" i="1">
                <a:solidFill>
                  <a:srgbClr val="1F497D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840826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AC3BE-81AB-D370-B0A9-422E05A99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DF19728-AE42-9F58-8DA6-D042F460F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9050" y="450997"/>
            <a:ext cx="7073900" cy="1524000"/>
          </a:xfrm>
        </p:spPr>
        <p:txBody>
          <a:bodyPr/>
          <a:lstStyle/>
          <a:p>
            <a:r>
              <a:rPr lang="sk-SK" dirty="0"/>
              <a:t>Procesný model – PC_3</a:t>
            </a:r>
          </a:p>
        </p:txBody>
      </p:sp>
      <p:grpSp>
        <p:nvGrpSpPr>
          <p:cNvPr id="4" name="Skupina 3">
            <a:extLst>
              <a:ext uri="{FF2B5EF4-FFF2-40B4-BE49-F238E27FC236}">
                <a16:creationId xmlns:a16="http://schemas.microsoft.com/office/drawing/2014/main" id="{78AD6D4D-DFE9-72A5-48D9-30E7F322084B}"/>
              </a:ext>
            </a:extLst>
          </p:cNvPr>
          <p:cNvGrpSpPr/>
          <p:nvPr/>
        </p:nvGrpSpPr>
        <p:grpSpPr>
          <a:xfrm>
            <a:off x="2338705" y="1625600"/>
            <a:ext cx="6614796" cy="4248785"/>
            <a:chOff x="0" y="0"/>
            <a:chExt cx="5380990" cy="3061970"/>
          </a:xfrm>
        </p:grpSpPr>
        <p:pic>
          <p:nvPicPr>
            <p:cNvPr id="7" name="Obrázok 6" descr="Obrázok, na ktorom je text, diagram, snímka obrazovky, plán&#10;&#10;Obsah vygenerovaný umelou inteligenciou môže byť nesprávny.">
              <a:extLst>
                <a:ext uri="{FF2B5EF4-FFF2-40B4-BE49-F238E27FC236}">
                  <a16:creationId xmlns:a16="http://schemas.microsoft.com/office/drawing/2014/main" id="{3B1A77E3-1E1D-32B6-8325-7193EAB6FFD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5380990" cy="2726055"/>
            </a:xfrm>
            <a:prstGeom prst="rect">
              <a:avLst/>
            </a:prstGeom>
          </p:spPr>
        </p:pic>
        <p:sp>
          <p:nvSpPr>
            <p:cNvPr id="8" name="Textové pole 1">
              <a:extLst>
                <a:ext uri="{FF2B5EF4-FFF2-40B4-BE49-F238E27FC236}">
                  <a16:creationId xmlns:a16="http://schemas.microsoft.com/office/drawing/2014/main" id="{D35BC3AD-A1E1-4F6E-217A-2725AFE7AFAA}"/>
                </a:ext>
              </a:extLst>
            </p:cNvPr>
            <p:cNvSpPr txBox="1"/>
            <p:nvPr/>
          </p:nvSpPr>
          <p:spPr>
            <a:xfrm>
              <a:off x="0" y="2785745"/>
              <a:ext cx="5380990" cy="276225"/>
            </a:xfrm>
            <a:prstGeom prst="rect">
              <a:avLst/>
            </a:prstGeom>
            <a:solidFill>
              <a:prstClr val="white"/>
            </a:solidFill>
            <a:ln>
              <a:noFill/>
            </a:ln>
          </p:spPr>
          <p:txBody>
            <a:bodyPr rot="0" spcFirstLastPara="0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>
                <a:spcAft>
                  <a:spcPts val="1000"/>
                </a:spcAft>
              </a:pPr>
              <a:r>
                <a:rPr lang="sk-SK" sz="900" i="1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19050" dir="2700000" algn="tl">
                      <a:schemeClr val="dk1">
                        <a:alpha val="40000"/>
                      </a:schemeClr>
                    </a:outerShdw>
                  </a:effectLst>
                  <a:latin typeface="Arial" panose="020B0604020202020204" pitchFamily="34" charset="0"/>
                  <a:ea typeface="Arial" panose="020B0604020202020204" pitchFamily="34" charset="0"/>
                </a:rPr>
                <a:t>PC_3 Relaxation Techniques</a:t>
              </a:r>
              <a:endParaRPr lang="sk-SK" sz="900" i="1">
                <a:solidFill>
                  <a:srgbClr val="1F497D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090751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3F62B-E548-08C3-CC26-F21B8BAA7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D55AEA0-836C-FBBA-6337-09F9B22C6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4. Špecifikácia informačného systému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3B5212EF-495A-C67F-6F61-0BF6DFF09A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k-SK" b="1" dirty="0"/>
              <a:t>prípady použitia </a:t>
            </a:r>
            <a:r>
              <a:rPr lang="sk-SK" dirty="0"/>
              <a:t>a model správania sa systému (min. 3 diagramy prípadov použitia)</a:t>
            </a:r>
          </a:p>
          <a:p>
            <a:r>
              <a:rPr lang="sk-SK" b="1" dirty="0"/>
              <a:t>detailná špecifikácia prípadov použitia </a:t>
            </a:r>
            <a:r>
              <a:rPr lang="sk-SK" dirty="0"/>
              <a:t>(pre minimálne 4 komplexné prípady použitia a </a:t>
            </a:r>
            <a:r>
              <a:rPr lang="sk-SK" b="1" dirty="0"/>
              <a:t>sekvenčné diagramy</a:t>
            </a:r>
            <a:r>
              <a:rPr lang="sk-SK" dirty="0"/>
              <a:t>)</a:t>
            </a:r>
          </a:p>
          <a:p>
            <a:r>
              <a:rPr lang="sk-SK" dirty="0"/>
              <a:t>diagram tried a zodpovedajúce </a:t>
            </a:r>
            <a:r>
              <a:rPr lang="sk-SK" b="1" dirty="0"/>
              <a:t>stavové diagramy </a:t>
            </a:r>
            <a:r>
              <a:rPr lang="sk-SK" dirty="0"/>
              <a:t>(minimálne 1 stavový diagram)</a:t>
            </a:r>
          </a:p>
        </p:txBody>
      </p:sp>
    </p:spTree>
    <p:extLst>
      <p:ext uri="{BB962C8B-B14F-4D97-AF65-F5344CB8AC3E}">
        <p14:creationId xmlns:p14="http://schemas.microsoft.com/office/powerpoint/2010/main" val="10587543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ok 3">
            <a:extLst>
              <a:ext uri="{FF2B5EF4-FFF2-40B4-BE49-F238E27FC236}">
                <a16:creationId xmlns:a16="http://schemas.microsoft.com/office/drawing/2014/main" id="{1A58B8DD-C513-FF1F-42DE-B8EEA3181A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49250"/>
            <a:ext cx="5308600" cy="6159500"/>
          </a:xfrm>
          <a:prstGeom prst="rect">
            <a:avLst/>
          </a:prstGeom>
        </p:spPr>
      </p:pic>
      <p:pic>
        <p:nvPicPr>
          <p:cNvPr id="5" name="Obrázok 4">
            <a:extLst>
              <a:ext uri="{FF2B5EF4-FFF2-40B4-BE49-F238E27FC236}">
                <a16:creationId xmlns:a16="http://schemas.microsoft.com/office/drawing/2014/main" id="{A18281C0-136C-BED2-F4CD-95E612AD21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3800" y="2876550"/>
            <a:ext cx="5308600" cy="1104900"/>
          </a:xfrm>
          <a:prstGeom prst="rect">
            <a:avLst/>
          </a:prstGeom>
        </p:spPr>
      </p:pic>
      <p:sp>
        <p:nvSpPr>
          <p:cNvPr id="7" name="Nadpis 1">
            <a:extLst>
              <a:ext uri="{FF2B5EF4-FFF2-40B4-BE49-F238E27FC236}">
                <a16:creationId xmlns:a16="http://schemas.microsoft.com/office/drawing/2014/main" id="{24C63B09-EC84-FAC0-7F8A-22C095F1D4B5}"/>
              </a:ext>
            </a:extLst>
          </p:cNvPr>
          <p:cNvSpPr txBox="1">
            <a:spLocks/>
          </p:cNvSpPr>
          <p:nvPr/>
        </p:nvSpPr>
        <p:spPr>
          <a:xfrm>
            <a:off x="6470650" y="342900"/>
            <a:ext cx="3841750" cy="14159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sk-SK" dirty="0"/>
              <a:t>Scenár 1</a:t>
            </a:r>
          </a:p>
        </p:txBody>
      </p:sp>
    </p:spTree>
    <p:extLst>
      <p:ext uri="{BB962C8B-B14F-4D97-AF65-F5344CB8AC3E}">
        <p14:creationId xmlns:p14="http://schemas.microsoft.com/office/powerpoint/2010/main" val="42452923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ok 3">
            <a:extLst>
              <a:ext uri="{FF2B5EF4-FFF2-40B4-BE49-F238E27FC236}">
                <a16:creationId xmlns:a16="http://schemas.microsoft.com/office/drawing/2014/main" id="{CD4BDFBE-D44E-DA0D-EBD6-5F6F5781B6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500" y="342900"/>
            <a:ext cx="5308600" cy="6172200"/>
          </a:xfrm>
          <a:prstGeom prst="rect">
            <a:avLst/>
          </a:prstGeom>
        </p:spPr>
      </p:pic>
      <p:sp>
        <p:nvSpPr>
          <p:cNvPr id="5" name="Nadpis 1">
            <a:extLst>
              <a:ext uri="{FF2B5EF4-FFF2-40B4-BE49-F238E27FC236}">
                <a16:creationId xmlns:a16="http://schemas.microsoft.com/office/drawing/2014/main" id="{D3BB8191-D17E-C639-C423-ABA3DC24F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0650" y="342900"/>
            <a:ext cx="3841750" cy="1415903"/>
          </a:xfrm>
        </p:spPr>
        <p:txBody>
          <a:bodyPr/>
          <a:lstStyle/>
          <a:p>
            <a:r>
              <a:rPr lang="sk-SK" dirty="0"/>
              <a:t>Scenár 2</a:t>
            </a:r>
          </a:p>
        </p:txBody>
      </p:sp>
    </p:spTree>
    <p:extLst>
      <p:ext uri="{BB962C8B-B14F-4D97-AF65-F5344CB8AC3E}">
        <p14:creationId xmlns:p14="http://schemas.microsoft.com/office/powerpoint/2010/main" val="22143338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ok 3" descr="Obrázok, na ktorom je diagram, rad, snímka obrazovky, rovnobežný&#10;&#10;Obsah vygenerovaný umelou inteligenciou môže byť nesprávny.">
            <a:extLst>
              <a:ext uri="{FF2B5EF4-FFF2-40B4-BE49-F238E27FC236}">
                <a16:creationId xmlns:a16="http://schemas.microsoft.com/office/drawing/2014/main" id="{D8E58DB0-442F-B314-682D-6B7863AC336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2762" y="355600"/>
            <a:ext cx="5712738" cy="6124893"/>
          </a:xfrm>
          <a:prstGeom prst="rect">
            <a:avLst/>
          </a:prstGeom>
        </p:spPr>
      </p:pic>
      <p:sp>
        <p:nvSpPr>
          <p:cNvPr id="5" name="Nadpis 1">
            <a:extLst>
              <a:ext uri="{FF2B5EF4-FFF2-40B4-BE49-F238E27FC236}">
                <a16:creationId xmlns:a16="http://schemas.microsoft.com/office/drawing/2014/main" id="{14937F16-AD8D-8109-6813-C1807995B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801" y="2667000"/>
            <a:ext cx="6438900" cy="1524000"/>
          </a:xfrm>
        </p:spPr>
        <p:txBody>
          <a:bodyPr/>
          <a:lstStyle/>
          <a:p>
            <a:r>
              <a:rPr lang="sk-SK" dirty="0"/>
              <a:t>Správanie systému</a:t>
            </a:r>
          </a:p>
        </p:txBody>
      </p:sp>
    </p:spTree>
    <p:extLst>
      <p:ext uri="{BB962C8B-B14F-4D97-AF65-F5344CB8AC3E}">
        <p14:creationId xmlns:p14="http://schemas.microsoft.com/office/powerpoint/2010/main" val="3571284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5485EC-7329-D01C-98D7-1596DC562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5FC1108-C3A5-2539-B6BC-AFDAD3CB2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3201" y="355600"/>
            <a:ext cx="6438900" cy="1524000"/>
          </a:xfrm>
        </p:spPr>
        <p:txBody>
          <a:bodyPr/>
          <a:lstStyle/>
          <a:p>
            <a:r>
              <a:rPr lang="sk-SK" dirty="0"/>
              <a:t>Návrhový diagram tried</a:t>
            </a:r>
          </a:p>
        </p:txBody>
      </p:sp>
      <p:pic>
        <p:nvPicPr>
          <p:cNvPr id="3" name="Obrázok 2">
            <a:extLst>
              <a:ext uri="{FF2B5EF4-FFF2-40B4-BE49-F238E27FC236}">
                <a16:creationId xmlns:a16="http://schemas.microsoft.com/office/drawing/2014/main" id="{3C54FE8E-510C-36A6-88F7-E05AE20ACE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6592" y="1513638"/>
            <a:ext cx="7742207" cy="4379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3940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8F441-85E4-0EE8-7F35-62E112CBC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B98750E-14D9-076E-1A47-2A1EF1E53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6100" y="304800"/>
            <a:ext cx="8799799" cy="1524000"/>
          </a:xfrm>
        </p:spPr>
        <p:txBody>
          <a:bodyPr/>
          <a:lstStyle/>
          <a:p>
            <a:r>
              <a:rPr lang="sk-SK" dirty="0"/>
              <a:t>Analytický diagram tried + UC</a:t>
            </a:r>
          </a:p>
        </p:txBody>
      </p:sp>
      <p:pic>
        <p:nvPicPr>
          <p:cNvPr id="4" name="Obrázok 3" descr="Obrázok, na ktorom je text, diagram, rad, snímka obrazovky&#10;&#10;Obsah vygenerovaný umelou inteligenciou môže byť nesprávny.">
            <a:extLst>
              <a:ext uri="{FF2B5EF4-FFF2-40B4-BE49-F238E27FC236}">
                <a16:creationId xmlns:a16="http://schemas.microsoft.com/office/drawing/2014/main" id="{F48266BF-8275-84BD-D20F-6CC7F9580BF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4292" y="1491086"/>
            <a:ext cx="6232208" cy="4536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5610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F11DFC0-8FCA-AB3F-14F9-33E1687D5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0" y="393700"/>
            <a:ext cx="5334000" cy="1524000"/>
          </a:xfrm>
        </p:spPr>
        <p:txBody>
          <a:bodyPr/>
          <a:lstStyle/>
          <a:p>
            <a:r>
              <a:rPr lang="sk-SK" dirty="0"/>
              <a:t>Sekvenčné diagramy</a:t>
            </a:r>
          </a:p>
        </p:txBody>
      </p:sp>
      <p:pic>
        <p:nvPicPr>
          <p:cNvPr id="4" name="Obrázok 3" descr="Obrázok, na ktorom je text, snímka obrazovky, diagram, displej&#10;&#10;Obsah vygenerovaný umelou inteligenciou môže byť nesprávny.">
            <a:extLst>
              <a:ext uri="{FF2B5EF4-FFF2-40B4-BE49-F238E27FC236}">
                <a16:creationId xmlns:a16="http://schemas.microsoft.com/office/drawing/2014/main" id="{87497822-4C4D-6D5E-899D-225778AE23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997" y="1455303"/>
            <a:ext cx="4708715" cy="4756254"/>
          </a:xfrm>
          <a:prstGeom prst="rect">
            <a:avLst/>
          </a:prstGeom>
        </p:spPr>
      </p:pic>
      <p:pic>
        <p:nvPicPr>
          <p:cNvPr id="5" name="Obrázok 4" descr="Obrázok, na ktorom je text, diagram, snímka obrazovky, rovnobežný&#10;&#10;Obsah vygenerovaný umelou inteligenciou môže byť nesprávny.">
            <a:extLst>
              <a:ext uri="{FF2B5EF4-FFF2-40B4-BE49-F238E27FC236}">
                <a16:creationId xmlns:a16="http://schemas.microsoft.com/office/drawing/2014/main" id="{D44C2F18-735A-7D10-8538-24B135328E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455303"/>
            <a:ext cx="4977448" cy="4767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6658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3EF8F3-DAA7-392D-A6D2-F4865E97C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4B830E4-2A88-5715-049C-5126C499C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0" y="393700"/>
            <a:ext cx="5334000" cy="1524000"/>
          </a:xfrm>
        </p:spPr>
        <p:txBody>
          <a:bodyPr/>
          <a:lstStyle/>
          <a:p>
            <a:r>
              <a:rPr lang="sk-SK" dirty="0"/>
              <a:t>Stavové diagramy</a:t>
            </a:r>
          </a:p>
        </p:txBody>
      </p:sp>
      <p:pic>
        <p:nvPicPr>
          <p:cNvPr id="3" name="Obrázok 2" descr="Obrázok, na ktorom je text, snímka obrazovky, diagram, rad&#10;&#10;Obsah vygenerovaný umelou inteligenciou môže byť nesprávny.">
            <a:extLst>
              <a:ext uri="{FF2B5EF4-FFF2-40B4-BE49-F238E27FC236}">
                <a16:creationId xmlns:a16="http://schemas.microsoft.com/office/drawing/2014/main" id="{D86030AB-BD2E-6A41-7EEA-A022094E43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757" y="1821816"/>
            <a:ext cx="5512730" cy="3118485"/>
          </a:xfrm>
          <a:prstGeom prst="rect">
            <a:avLst/>
          </a:prstGeom>
        </p:spPr>
      </p:pic>
      <p:pic>
        <p:nvPicPr>
          <p:cNvPr id="6" name="Obrázok 5" descr="Obrázok, na ktorom je text, snímka obrazovky, diagram, dizajn&#10;&#10;Obsah vygenerovaný umelou inteligenciou môže byť nesprávny.">
            <a:extLst>
              <a:ext uri="{FF2B5EF4-FFF2-40B4-BE49-F238E27FC236}">
                <a16:creationId xmlns:a16="http://schemas.microsoft.com/office/drawing/2014/main" id="{47394929-2CD4-69B5-2549-48667A82BD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6357" y="1821816"/>
            <a:ext cx="4693285" cy="3118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449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DD9F8-8BFD-DA82-F498-94D201031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D779566-5271-7042-276E-E8D81B06A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5. Používateľské rozhranie</a:t>
            </a:r>
          </a:p>
        </p:txBody>
      </p:sp>
    </p:spTree>
    <p:extLst>
      <p:ext uri="{BB962C8B-B14F-4D97-AF65-F5344CB8AC3E}">
        <p14:creationId xmlns:p14="http://schemas.microsoft.com/office/powerpoint/2010/main" val="42794560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ok 3">
            <a:extLst>
              <a:ext uri="{FF2B5EF4-FFF2-40B4-BE49-F238E27FC236}">
                <a16:creationId xmlns:a16="http://schemas.microsoft.com/office/drawing/2014/main" id="{0335228F-BA17-7E1C-C8B5-AAEDEE44E9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214" y="1074102"/>
            <a:ext cx="4836143" cy="4450398"/>
          </a:xfrm>
          <a:prstGeom prst="rect">
            <a:avLst/>
          </a:prstGeom>
        </p:spPr>
      </p:pic>
      <p:pic>
        <p:nvPicPr>
          <p:cNvPr id="5" name="Obrázok 4" descr="Obrázok, na ktorom je náčrt, kresba, štvorec, diagram&#10;&#10;Obsah vygenerovaný umelou inteligenciou môže byť nesprávny.">
            <a:extLst>
              <a:ext uri="{FF2B5EF4-FFF2-40B4-BE49-F238E27FC236}">
                <a16:creationId xmlns:a16="http://schemas.microsoft.com/office/drawing/2014/main" id="{AE478218-4C5E-10C1-8186-7426005C5AE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439102"/>
            <a:ext cx="4836143" cy="5971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4725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1">
            <a:extLst>
              <a:ext uri="{FF2B5EF4-FFF2-40B4-BE49-F238E27FC236}">
                <a16:creationId xmlns:a16="http://schemas.microsoft.com/office/drawing/2014/main" id="{E63A6CE1-6085-5B88-DEE9-57CD60F8D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4650" y="2527300"/>
            <a:ext cx="6362700" cy="1524000"/>
          </a:xfrm>
        </p:spPr>
        <p:txBody>
          <a:bodyPr>
            <a:normAutofit/>
          </a:bodyPr>
          <a:lstStyle/>
          <a:p>
            <a:pPr algn="ctr"/>
            <a:r>
              <a:rPr lang="sk-SK" dirty="0">
                <a:solidFill>
                  <a:schemeClr val="bg1"/>
                </a:solidFill>
              </a:rPr>
              <a:t>Otázky? </a:t>
            </a:r>
            <a:br>
              <a:rPr lang="sk-SK" dirty="0">
                <a:solidFill>
                  <a:schemeClr val="bg1"/>
                </a:solidFill>
              </a:rPr>
            </a:br>
            <a:r>
              <a:rPr lang="sk-SK" dirty="0">
                <a:solidFill>
                  <a:schemeClr val="bg1"/>
                </a:solidFill>
              </a:rPr>
              <a:t>Ďakujeme za pozornosť!</a:t>
            </a:r>
          </a:p>
        </p:txBody>
      </p:sp>
      <p:pic>
        <p:nvPicPr>
          <p:cNvPr id="5" name="Obrázok 4">
            <a:extLst>
              <a:ext uri="{FF2B5EF4-FFF2-40B4-BE49-F238E27FC236}">
                <a16:creationId xmlns:a16="http://schemas.microsoft.com/office/drawing/2014/main" id="{2E627CCB-AC6F-FDBA-5F32-E1C94B963A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200" y="2769687"/>
            <a:ext cx="3225800" cy="322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994604"/>
      </p:ext>
    </p:extLst>
  </p:cSld>
  <p:clrMapOvr>
    <a:masterClrMapping/>
  </p:clrMapOvr>
</p:sld>
</file>

<file path=ppt/theme/theme1.xml><?xml version="1.0" encoding="utf-8"?>
<a:theme xmlns:a="http://schemas.openxmlformats.org/drawingml/2006/main" name="PebbleVTI">
  <a:themeElements>
    <a:clrScheme name="Blush 3">
      <a:dk1>
        <a:sysClr val="windowText" lastClr="000000"/>
      </a:dk1>
      <a:lt1>
        <a:sysClr val="window" lastClr="FFFFFF"/>
      </a:lt1>
      <a:dk2>
        <a:srgbClr val="B15E4E"/>
      </a:dk2>
      <a:lt2>
        <a:srgbClr val="FFFFFF"/>
      </a:lt2>
      <a:accent1>
        <a:srgbClr val="C5B096"/>
      </a:accent1>
      <a:accent2>
        <a:srgbClr val="ECA855"/>
      </a:accent2>
      <a:accent3>
        <a:srgbClr val="9BBFB0"/>
      </a:accent3>
      <a:accent4>
        <a:srgbClr val="A9AEA7"/>
      </a:accent4>
      <a:accent5>
        <a:srgbClr val="6A787C"/>
      </a:accent5>
      <a:accent6>
        <a:srgbClr val="3B4345"/>
      </a:accent6>
      <a:hlink>
        <a:srgbClr val="ECA855"/>
      </a:hlink>
      <a:folHlink>
        <a:srgbClr val="6A392F"/>
      </a:folHlink>
    </a:clrScheme>
    <a:fontScheme name="Custom 4">
      <a:majorFont>
        <a:latin typeface="Sitka Subheading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ebbleVTI" id="{8B4DB91D-6BB4-4BA3-973A-733D3AF2680E}" vid="{9A19CF0D-2077-4BF4-BAA5-86934C336D5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278</Words>
  <Application>Microsoft Macintosh PowerPoint</Application>
  <PresentationFormat>Širokouhlá</PresentationFormat>
  <Paragraphs>88</Paragraphs>
  <Slides>30</Slides>
  <Notes>0</Notes>
  <HiddenSlides>0</HiddenSlides>
  <MMClips>0</MMClips>
  <ScaleCrop>false</ScaleCrop>
  <HeadingPairs>
    <vt:vector size="6" baseType="variant">
      <vt:variant>
        <vt:lpstr>Použité písma</vt:lpstr>
      </vt:variant>
      <vt:variant>
        <vt:i4>4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30</vt:i4>
      </vt:variant>
    </vt:vector>
  </HeadingPairs>
  <TitlesOfParts>
    <vt:vector size="35" baseType="lpstr">
      <vt:lpstr>Arial</vt:lpstr>
      <vt:lpstr>Avenir Next LT Pro</vt:lpstr>
      <vt:lpstr>Avenir Next LT Pro Light</vt:lpstr>
      <vt:lpstr>Sitka Subheading</vt:lpstr>
      <vt:lpstr>PebbleVTI</vt:lpstr>
      <vt:lpstr>PuRRifier</vt:lpstr>
      <vt:lpstr>Hlavné podmienky</vt:lpstr>
      <vt:lpstr>1. Zámer projektu</vt:lpstr>
      <vt:lpstr>Prezentácia programu PowerPoint</vt:lpstr>
      <vt:lpstr>Prezentácia programu PowerPoint</vt:lpstr>
      <vt:lpstr>Prezentácia programu PowerPoint</vt:lpstr>
      <vt:lpstr>Prezentácia programu PowerPoint</vt:lpstr>
      <vt:lpstr>2. Katalóg požiadaviek</vt:lpstr>
      <vt:lpstr>Business požiadavky, User požiadavky</vt:lpstr>
      <vt:lpstr>Funkčné, Nefunkčné požiadavky</vt:lpstr>
      <vt:lpstr>Matice závislostí</vt:lpstr>
      <vt:lpstr>Diagram závislostí</vt:lpstr>
      <vt:lpstr>3. Business model</vt:lpstr>
      <vt:lpstr>Doménový model</vt:lpstr>
      <vt:lpstr>Procesná mapa</vt:lpstr>
      <vt:lpstr>Procesný model – PC_0</vt:lpstr>
      <vt:lpstr>Procesný model – PC_1</vt:lpstr>
      <vt:lpstr>Procesný model – PC_2</vt:lpstr>
      <vt:lpstr>Procesný model – PC_3</vt:lpstr>
      <vt:lpstr>4. Špecifikácia informačného systému</vt:lpstr>
      <vt:lpstr>Prezentácia programu PowerPoint</vt:lpstr>
      <vt:lpstr>Scenár 2</vt:lpstr>
      <vt:lpstr>Správanie systému</vt:lpstr>
      <vt:lpstr>Návrhový diagram tried</vt:lpstr>
      <vt:lpstr>Analytický diagram tried + UC</vt:lpstr>
      <vt:lpstr>Sekvenčné diagramy</vt:lpstr>
      <vt:lpstr>Stavové diagramy</vt:lpstr>
      <vt:lpstr>5. Používateľské rozhranie</vt:lpstr>
      <vt:lpstr>Prezentácia programu PowerPoint</vt:lpstr>
      <vt:lpstr>Otázky?  Ďakujeme za pozornosť!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Pani Kacmarova</dc:creator>
  <cp:lastModifiedBy>Pani Kacmarova</cp:lastModifiedBy>
  <cp:revision>2</cp:revision>
  <dcterms:created xsi:type="dcterms:W3CDTF">2025-04-21T13:28:23Z</dcterms:created>
  <dcterms:modified xsi:type="dcterms:W3CDTF">2025-04-21T15:53:42Z</dcterms:modified>
</cp:coreProperties>
</file>